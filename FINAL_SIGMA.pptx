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HK Modular" panose="020B0604020202020204" charset="0"/>
      <p:regular r:id="rId12"/>
    </p:embeddedFont>
    <p:embeddedFont>
      <p:font typeface="Poppins" panose="020B0502040204020203" pitchFamily="2" charset="0"/>
      <p:regular r:id="rId13"/>
    </p:embeddedFont>
    <p:embeddedFont>
      <p:font typeface="Poppins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898" y="3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92C">
                <a:alpha val="100000"/>
              </a:srgbClr>
            </a:gs>
            <a:gs pos="100000">
              <a:srgbClr val="00000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009852" y="1028700"/>
            <a:ext cx="10590603" cy="10109212"/>
          </a:xfrm>
          <a:custGeom>
            <a:avLst/>
            <a:gdLst/>
            <a:ahLst/>
            <a:cxnLst/>
            <a:rect l="l" t="t" r="r" b="b"/>
            <a:pathLst>
              <a:path w="10590603" h="10109212">
                <a:moveTo>
                  <a:pt x="0" y="0"/>
                </a:moveTo>
                <a:lnTo>
                  <a:pt x="10590603" y="0"/>
                </a:lnTo>
                <a:lnTo>
                  <a:pt x="10590603" y="10109212"/>
                </a:lnTo>
                <a:lnTo>
                  <a:pt x="0" y="10109212"/>
                </a:lnTo>
                <a:lnTo>
                  <a:pt x="0" y="0"/>
                </a:lnTo>
                <a:close/>
              </a:path>
            </a:pathLst>
          </a:custGeom>
          <a:blipFill>
            <a:blip>
              <a:alphaModFix amt="2000"/>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1707249" y="-850912"/>
            <a:ext cx="10590603" cy="10109212"/>
          </a:xfrm>
          <a:custGeom>
            <a:avLst/>
            <a:gdLst/>
            <a:ahLst/>
            <a:cxnLst/>
            <a:rect l="l" t="t" r="r" b="b"/>
            <a:pathLst>
              <a:path w="10590603" h="10109212">
                <a:moveTo>
                  <a:pt x="10590603" y="10109212"/>
                </a:moveTo>
                <a:lnTo>
                  <a:pt x="0" y="10109212"/>
                </a:lnTo>
                <a:lnTo>
                  <a:pt x="0" y="0"/>
                </a:lnTo>
                <a:lnTo>
                  <a:pt x="10590603" y="0"/>
                </a:lnTo>
                <a:lnTo>
                  <a:pt x="10590603" y="10109212"/>
                </a:lnTo>
                <a:close/>
              </a:path>
            </a:pathLst>
          </a:custGeom>
          <a:blipFill>
            <a:blip>
              <a:alphaModFix amt="2000"/>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a:off x="1028700" y="1028700"/>
            <a:ext cx="698614" cy="812932"/>
            <a:chOff x="0" y="0"/>
            <a:chExt cx="698500" cy="812800"/>
          </a:xfrm>
        </p:grpSpPr>
        <p:sp>
          <p:nvSpPr>
            <p:cNvPr id="5" name="Freeform 5"/>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28575" cap="sq">
              <a:solidFill>
                <a:srgbClr val="FFFFFF"/>
              </a:solidFill>
              <a:prstDash val="solid"/>
              <a:miter/>
            </a:ln>
          </p:spPr>
        </p:sp>
        <p:sp>
          <p:nvSpPr>
            <p:cNvPr id="6" name="TextBox 6"/>
            <p:cNvSpPr txBox="1"/>
            <p:nvPr/>
          </p:nvSpPr>
          <p:spPr>
            <a:xfrm>
              <a:off x="0" y="73025"/>
              <a:ext cx="698500" cy="600075"/>
            </a:xfrm>
            <a:prstGeom prst="rect">
              <a:avLst/>
            </a:prstGeom>
          </p:spPr>
          <p:txBody>
            <a:bodyPr lIns="50800" tIns="50800" rIns="50800" bIns="50800" rtlCol="0" anchor="ctr"/>
            <a:lstStyle/>
            <a:p>
              <a:pPr marL="0" lvl="0" indent="0" algn="ctr">
                <a:lnSpc>
                  <a:spcPts val="3499"/>
                </a:lnSpc>
              </a:pPr>
              <a:endParaRPr/>
            </a:p>
          </p:txBody>
        </p:sp>
      </p:grpSp>
      <p:sp>
        <p:nvSpPr>
          <p:cNvPr id="8" name="TextBox 8"/>
          <p:cNvSpPr txBox="1"/>
          <p:nvPr/>
        </p:nvSpPr>
        <p:spPr>
          <a:xfrm>
            <a:off x="1028700" y="8855009"/>
            <a:ext cx="3226472" cy="207645"/>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Poppins"/>
                <a:ea typeface="Poppins"/>
                <a:cs typeface="Poppins"/>
                <a:sym typeface="Poppins"/>
              </a:rPr>
              <a:t>for Mining Assets</a:t>
            </a:r>
          </a:p>
        </p:txBody>
      </p:sp>
      <p:sp>
        <p:nvSpPr>
          <p:cNvPr id="9" name="TextBox 9"/>
          <p:cNvSpPr txBox="1"/>
          <p:nvPr/>
        </p:nvSpPr>
        <p:spPr>
          <a:xfrm>
            <a:off x="1028700" y="8454225"/>
            <a:ext cx="2216693" cy="417195"/>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Poppins"/>
                <a:ea typeface="Poppins"/>
                <a:cs typeface="Poppins"/>
                <a:sym typeface="Poppins"/>
              </a:rPr>
              <a:t>Smart Integrated Governance</a:t>
            </a:r>
          </a:p>
        </p:txBody>
      </p:sp>
      <p:sp>
        <p:nvSpPr>
          <p:cNvPr id="10" name="TextBox 10"/>
          <p:cNvSpPr txBox="1"/>
          <p:nvPr/>
        </p:nvSpPr>
        <p:spPr>
          <a:xfrm>
            <a:off x="14993764" y="8855009"/>
            <a:ext cx="2265536" cy="207645"/>
          </a:xfrm>
          <a:prstGeom prst="rect">
            <a:avLst/>
          </a:prstGeom>
        </p:spPr>
        <p:txBody>
          <a:bodyPr lIns="0" tIns="0" rIns="0" bIns="0" rtlCol="0" anchor="t">
            <a:spAutoFit/>
          </a:bodyPr>
          <a:lstStyle/>
          <a:p>
            <a:pPr marL="0" lvl="0" indent="0" algn="l">
              <a:lnSpc>
                <a:spcPts val="1679"/>
              </a:lnSpc>
              <a:spcBef>
                <a:spcPct val="0"/>
              </a:spcBef>
            </a:pPr>
            <a:r>
              <a:rPr lang="en-US" sz="1200" b="1">
                <a:gradFill>
                  <a:gsLst>
                    <a:gs pos="0">
                      <a:srgbClr val="51DACF">
                        <a:alpha val="100000"/>
                      </a:srgbClr>
                    </a:gs>
                    <a:gs pos="100000">
                      <a:srgbClr val="FFFFFF">
                        <a:alpha val="100000"/>
                      </a:srgbClr>
                    </a:gs>
                  </a:gsLst>
                  <a:lin ang="2700000"/>
                </a:gradFill>
                <a:latin typeface="Poppins Bold"/>
                <a:ea typeface="Poppins Bold"/>
                <a:cs typeface="Poppins Bold"/>
                <a:sym typeface="Poppins Bold"/>
              </a:rPr>
              <a:t>Team S.I.G.M.A</a:t>
            </a:r>
          </a:p>
        </p:txBody>
      </p:sp>
      <p:sp>
        <p:nvSpPr>
          <p:cNvPr id="11" name="TextBox 11"/>
          <p:cNvSpPr txBox="1"/>
          <p:nvPr/>
        </p:nvSpPr>
        <p:spPr>
          <a:xfrm>
            <a:off x="14993764" y="8454225"/>
            <a:ext cx="2216693" cy="207645"/>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Poppins"/>
                <a:ea typeface="Poppins"/>
                <a:cs typeface="Poppins"/>
                <a:sym typeface="Poppins"/>
              </a:rPr>
              <a:t>Presented By</a:t>
            </a:r>
          </a:p>
        </p:txBody>
      </p:sp>
      <p:grpSp>
        <p:nvGrpSpPr>
          <p:cNvPr id="12" name="Group 12"/>
          <p:cNvGrpSpPr/>
          <p:nvPr/>
        </p:nvGrpSpPr>
        <p:grpSpPr>
          <a:xfrm>
            <a:off x="2855371" y="6372949"/>
            <a:ext cx="12577257" cy="1071258"/>
            <a:chOff x="0" y="0"/>
            <a:chExt cx="8200838" cy="698500"/>
          </a:xfrm>
        </p:grpSpPr>
        <p:sp>
          <p:nvSpPr>
            <p:cNvPr id="13" name="Freeform 13"/>
            <p:cNvSpPr/>
            <p:nvPr/>
          </p:nvSpPr>
          <p:spPr>
            <a:xfrm>
              <a:off x="0" y="0"/>
              <a:ext cx="8200838" cy="698500"/>
            </a:xfrm>
            <a:custGeom>
              <a:avLst/>
              <a:gdLst/>
              <a:ahLst/>
              <a:cxnLst/>
              <a:rect l="l" t="t" r="r" b="b"/>
              <a:pathLst>
                <a:path w="8200838" h="698500">
                  <a:moveTo>
                    <a:pt x="8200838" y="349250"/>
                  </a:moveTo>
                  <a:lnTo>
                    <a:pt x="7997638" y="698500"/>
                  </a:lnTo>
                  <a:lnTo>
                    <a:pt x="203200" y="698500"/>
                  </a:lnTo>
                  <a:lnTo>
                    <a:pt x="0" y="349250"/>
                  </a:lnTo>
                  <a:lnTo>
                    <a:pt x="203200" y="0"/>
                  </a:lnTo>
                  <a:lnTo>
                    <a:pt x="7997638" y="0"/>
                  </a:lnTo>
                  <a:lnTo>
                    <a:pt x="8200838" y="349250"/>
                  </a:lnTo>
                  <a:close/>
                </a:path>
              </a:pathLst>
            </a:custGeom>
            <a:gradFill rotWithShape="1">
              <a:gsLst>
                <a:gs pos="0">
                  <a:srgbClr val="51DACF">
                    <a:alpha val="100000"/>
                  </a:srgbClr>
                </a:gs>
                <a:gs pos="100000">
                  <a:srgbClr val="FFFFFF">
                    <a:alpha val="100000"/>
                  </a:srgbClr>
                </a:gs>
              </a:gsLst>
              <a:lin ang="2700000"/>
            </a:gradFill>
            <a:ln w="38100" cap="sq">
              <a:solidFill>
                <a:srgbClr val="FFFFFF"/>
              </a:solidFill>
              <a:prstDash val="solid"/>
              <a:miter/>
            </a:ln>
          </p:spPr>
        </p:sp>
        <p:sp>
          <p:nvSpPr>
            <p:cNvPr id="14" name="TextBox 14"/>
            <p:cNvSpPr txBox="1"/>
            <p:nvPr/>
          </p:nvSpPr>
          <p:spPr>
            <a:xfrm>
              <a:off x="114300" y="-66675"/>
              <a:ext cx="7972238" cy="765175"/>
            </a:xfrm>
            <a:prstGeom prst="rect">
              <a:avLst/>
            </a:prstGeom>
          </p:spPr>
          <p:txBody>
            <a:bodyPr lIns="50800" tIns="50800" rIns="50800" bIns="50800" rtlCol="0" anchor="ctr"/>
            <a:lstStyle/>
            <a:p>
              <a:pPr marL="0" lvl="0" indent="0" algn="ctr">
                <a:lnSpc>
                  <a:spcPts val="3499"/>
                </a:lnSpc>
                <a:spcBef>
                  <a:spcPct val="0"/>
                </a:spcBef>
              </a:pPr>
              <a:endParaRPr/>
            </a:p>
          </p:txBody>
        </p:sp>
      </p:grpSp>
      <p:sp>
        <p:nvSpPr>
          <p:cNvPr id="15" name="TextBox 15"/>
          <p:cNvSpPr txBox="1"/>
          <p:nvPr/>
        </p:nvSpPr>
        <p:spPr>
          <a:xfrm>
            <a:off x="2855371" y="2699250"/>
            <a:ext cx="12577257" cy="3133885"/>
          </a:xfrm>
          <a:prstGeom prst="rect">
            <a:avLst/>
          </a:prstGeom>
        </p:spPr>
        <p:txBody>
          <a:bodyPr lIns="0" tIns="0" rIns="0" bIns="0" rtlCol="0" anchor="t">
            <a:spAutoFit/>
          </a:bodyPr>
          <a:lstStyle/>
          <a:p>
            <a:pPr marL="0" lvl="0" indent="0" algn="ctr">
              <a:lnSpc>
                <a:spcPts val="12591"/>
              </a:lnSpc>
              <a:spcBef>
                <a:spcPct val="0"/>
              </a:spcBef>
            </a:pPr>
            <a:r>
              <a:rPr lang="en-US" sz="8993" b="1">
                <a:gradFill>
                  <a:gsLst>
                    <a:gs pos="0">
                      <a:srgbClr val="51DACF">
                        <a:alpha val="100000"/>
                      </a:srgbClr>
                    </a:gs>
                    <a:gs pos="100000">
                      <a:srgbClr val="FFFFFF">
                        <a:alpha val="100000"/>
                      </a:srgbClr>
                    </a:gs>
                  </a:gsLst>
                  <a:lin ang="2700000"/>
                </a:gradFill>
                <a:latin typeface="HK Modular"/>
                <a:ea typeface="HK Modular"/>
                <a:cs typeface="HK Modular"/>
                <a:sym typeface="HK Modular"/>
              </a:rPr>
              <a:t>MINEGUARD NEXUS</a:t>
            </a:r>
          </a:p>
        </p:txBody>
      </p:sp>
      <p:sp>
        <p:nvSpPr>
          <p:cNvPr id="16" name="TextBox 16"/>
          <p:cNvSpPr txBox="1"/>
          <p:nvPr/>
        </p:nvSpPr>
        <p:spPr>
          <a:xfrm>
            <a:off x="3466909" y="6691441"/>
            <a:ext cx="11354182" cy="249174"/>
          </a:xfrm>
          <a:prstGeom prst="rect">
            <a:avLst/>
          </a:prstGeom>
        </p:spPr>
        <p:txBody>
          <a:bodyPr lIns="0" tIns="0" rIns="0" bIns="0" rtlCol="0" anchor="t">
            <a:spAutoFit/>
          </a:bodyPr>
          <a:lstStyle/>
          <a:p>
            <a:pPr marL="0" lvl="0" indent="0" algn="ctr">
              <a:lnSpc>
                <a:spcPts val="2015"/>
              </a:lnSpc>
              <a:spcBef>
                <a:spcPct val="0"/>
              </a:spcBef>
            </a:pPr>
            <a:r>
              <a:rPr lang="en-US" sz="1439" spc="57">
                <a:solidFill>
                  <a:srgbClr val="000000"/>
                </a:solidFill>
                <a:latin typeface="Poppins"/>
                <a:ea typeface="Poppins"/>
                <a:cs typeface="Poppins"/>
                <a:sym typeface="Poppins"/>
              </a:rPr>
              <a:t>PREDICT  •  SIMULATE  •  PREVENT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92C">
                <a:alpha val="100000"/>
              </a:srgbClr>
            </a:gs>
            <a:gs pos="100000">
              <a:srgbClr val="00000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009852" y="1028700"/>
            <a:ext cx="10590603" cy="10109212"/>
          </a:xfrm>
          <a:custGeom>
            <a:avLst/>
            <a:gdLst/>
            <a:ahLst/>
            <a:cxnLst/>
            <a:rect l="l" t="t" r="r" b="b"/>
            <a:pathLst>
              <a:path w="10590603" h="10109212">
                <a:moveTo>
                  <a:pt x="0" y="0"/>
                </a:moveTo>
                <a:lnTo>
                  <a:pt x="10590603" y="0"/>
                </a:lnTo>
                <a:lnTo>
                  <a:pt x="10590603" y="10109212"/>
                </a:lnTo>
                <a:lnTo>
                  <a:pt x="0" y="10109212"/>
                </a:lnTo>
                <a:lnTo>
                  <a:pt x="0" y="0"/>
                </a:lnTo>
                <a:close/>
              </a:path>
            </a:pathLst>
          </a:custGeom>
          <a:blipFill>
            <a:blip>
              <a:alphaModFix amt="2000"/>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1707249" y="-850912"/>
            <a:ext cx="10590603" cy="10109212"/>
          </a:xfrm>
          <a:custGeom>
            <a:avLst/>
            <a:gdLst/>
            <a:ahLst/>
            <a:cxnLst/>
            <a:rect l="l" t="t" r="r" b="b"/>
            <a:pathLst>
              <a:path w="10590603" h="10109212">
                <a:moveTo>
                  <a:pt x="10590603" y="10109212"/>
                </a:moveTo>
                <a:lnTo>
                  <a:pt x="0" y="10109212"/>
                </a:lnTo>
                <a:lnTo>
                  <a:pt x="0" y="0"/>
                </a:lnTo>
                <a:lnTo>
                  <a:pt x="10590603" y="0"/>
                </a:lnTo>
                <a:lnTo>
                  <a:pt x="10590603" y="10109212"/>
                </a:lnTo>
                <a:close/>
              </a:path>
            </a:pathLst>
          </a:custGeom>
          <a:blipFill>
            <a:blip>
              <a:alphaModFix amt="2000"/>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rot="-5400000">
            <a:off x="4360251" y="2840649"/>
            <a:ext cx="3086100" cy="9749202"/>
            <a:chOff x="0" y="0"/>
            <a:chExt cx="698500" cy="2206610"/>
          </a:xfrm>
        </p:grpSpPr>
        <p:sp>
          <p:nvSpPr>
            <p:cNvPr id="5" name="Freeform 5"/>
            <p:cNvSpPr/>
            <p:nvPr/>
          </p:nvSpPr>
          <p:spPr>
            <a:xfrm>
              <a:off x="0" y="0"/>
              <a:ext cx="698500" cy="2206610"/>
            </a:xfrm>
            <a:custGeom>
              <a:avLst/>
              <a:gdLst/>
              <a:ahLst/>
              <a:cxnLst/>
              <a:rect l="l" t="t" r="r" b="b"/>
              <a:pathLst>
                <a:path w="698500" h="2206610">
                  <a:moveTo>
                    <a:pt x="349250" y="0"/>
                  </a:moveTo>
                  <a:lnTo>
                    <a:pt x="698500" y="203200"/>
                  </a:lnTo>
                  <a:lnTo>
                    <a:pt x="698500" y="2003410"/>
                  </a:lnTo>
                  <a:lnTo>
                    <a:pt x="349250" y="2206610"/>
                  </a:lnTo>
                  <a:lnTo>
                    <a:pt x="0" y="2003410"/>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38100" cap="sq">
              <a:solidFill>
                <a:srgbClr val="FFFFFF"/>
              </a:solidFill>
              <a:prstDash val="solid"/>
              <a:miter/>
            </a:ln>
          </p:spPr>
        </p:sp>
        <p:sp>
          <p:nvSpPr>
            <p:cNvPr id="6" name="TextBox 6"/>
            <p:cNvSpPr txBox="1"/>
            <p:nvPr/>
          </p:nvSpPr>
          <p:spPr>
            <a:xfrm>
              <a:off x="0" y="73025"/>
              <a:ext cx="698500" cy="1993885"/>
            </a:xfrm>
            <a:prstGeom prst="rect">
              <a:avLst/>
            </a:prstGeom>
          </p:spPr>
          <p:txBody>
            <a:bodyPr lIns="50800" tIns="50800" rIns="50800" bIns="50800" rtlCol="0" anchor="ctr"/>
            <a:lstStyle/>
            <a:p>
              <a:pPr marL="0" lvl="0" indent="0" algn="ctr">
                <a:lnSpc>
                  <a:spcPts val="3499"/>
                </a:lnSpc>
              </a:pPr>
              <a:endParaRPr/>
            </a:p>
          </p:txBody>
        </p:sp>
      </p:grpSp>
      <p:grpSp>
        <p:nvGrpSpPr>
          <p:cNvPr id="7" name="Group 7"/>
          <p:cNvGrpSpPr/>
          <p:nvPr/>
        </p:nvGrpSpPr>
        <p:grpSpPr>
          <a:xfrm>
            <a:off x="11889525" y="3009834"/>
            <a:ext cx="5369775" cy="6248466"/>
            <a:chOff x="0" y="0"/>
            <a:chExt cx="698500" cy="812800"/>
          </a:xfrm>
        </p:grpSpPr>
        <p:sp>
          <p:nvSpPr>
            <p:cNvPr id="8" name="Freeform 8"/>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blipFill>
              <a:blip r:embed="rId3"/>
              <a:stretch>
                <a:fillRect t="-182" b="-182"/>
              </a:stretch>
            </a:blipFill>
            <a:ln w="38100" cap="sq">
              <a:solidFill>
                <a:srgbClr val="FFFFFF"/>
              </a:solidFill>
              <a:prstDash val="solid"/>
              <a:miter/>
            </a:ln>
          </p:spPr>
        </p:sp>
      </p:grpSp>
      <p:grpSp>
        <p:nvGrpSpPr>
          <p:cNvPr id="9" name="Group 9"/>
          <p:cNvGrpSpPr/>
          <p:nvPr/>
        </p:nvGrpSpPr>
        <p:grpSpPr>
          <a:xfrm>
            <a:off x="16560686" y="1028700"/>
            <a:ext cx="698614" cy="812932"/>
            <a:chOff x="0" y="0"/>
            <a:chExt cx="698500" cy="812800"/>
          </a:xfrm>
        </p:grpSpPr>
        <p:sp>
          <p:nvSpPr>
            <p:cNvPr id="10" name="Freeform 10"/>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28575" cap="sq">
              <a:solidFill>
                <a:srgbClr val="FFFFFF"/>
              </a:solidFill>
              <a:prstDash val="solid"/>
              <a:miter/>
            </a:ln>
          </p:spPr>
        </p:sp>
        <p:sp>
          <p:nvSpPr>
            <p:cNvPr id="11" name="TextBox 11"/>
            <p:cNvSpPr txBox="1"/>
            <p:nvPr/>
          </p:nvSpPr>
          <p:spPr>
            <a:xfrm>
              <a:off x="0" y="73025"/>
              <a:ext cx="698500" cy="600075"/>
            </a:xfrm>
            <a:prstGeom prst="rect">
              <a:avLst/>
            </a:prstGeom>
          </p:spPr>
          <p:txBody>
            <a:bodyPr lIns="50800" tIns="50800" rIns="50800" bIns="50800" rtlCol="0" anchor="ctr"/>
            <a:lstStyle/>
            <a:p>
              <a:pPr marL="0" lvl="0" indent="0" algn="ctr">
                <a:lnSpc>
                  <a:spcPts val="3499"/>
                </a:lnSpc>
              </a:pPr>
              <a:endParaRPr/>
            </a:p>
          </p:txBody>
        </p:sp>
      </p:grpSp>
      <p:sp>
        <p:nvSpPr>
          <p:cNvPr id="12" name="Freeform 12"/>
          <p:cNvSpPr/>
          <p:nvPr/>
        </p:nvSpPr>
        <p:spPr>
          <a:xfrm>
            <a:off x="16747571" y="1286550"/>
            <a:ext cx="324844" cy="297232"/>
          </a:xfrm>
          <a:custGeom>
            <a:avLst/>
            <a:gdLst/>
            <a:ahLst/>
            <a:cxnLst/>
            <a:rect l="l" t="t" r="r" b="b"/>
            <a:pathLst>
              <a:path w="324844" h="297232">
                <a:moveTo>
                  <a:pt x="0" y="0"/>
                </a:moveTo>
                <a:lnTo>
                  <a:pt x="324844" y="0"/>
                </a:lnTo>
                <a:lnTo>
                  <a:pt x="324844" y="297232"/>
                </a:lnTo>
                <a:lnTo>
                  <a:pt x="0" y="29723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3" name="TextBox 13"/>
          <p:cNvSpPr txBox="1"/>
          <p:nvPr/>
        </p:nvSpPr>
        <p:spPr>
          <a:xfrm>
            <a:off x="1028700" y="895350"/>
            <a:ext cx="12835054" cy="1047750"/>
          </a:xfrm>
          <a:prstGeom prst="rect">
            <a:avLst/>
          </a:prstGeom>
        </p:spPr>
        <p:txBody>
          <a:bodyPr lIns="0" tIns="0" rIns="0" bIns="0" rtlCol="0" anchor="t">
            <a:spAutoFit/>
          </a:bodyPr>
          <a:lstStyle/>
          <a:p>
            <a:pPr marL="0" lvl="0" indent="0" algn="l">
              <a:lnSpc>
                <a:spcPts val="8400"/>
              </a:lnSpc>
              <a:spcBef>
                <a:spcPct val="0"/>
              </a:spcBef>
            </a:pPr>
            <a:r>
              <a:rPr lang="en-US" sz="6000" b="1">
                <a:gradFill>
                  <a:gsLst>
                    <a:gs pos="0">
                      <a:srgbClr val="51DACF">
                        <a:alpha val="100000"/>
                      </a:srgbClr>
                    </a:gs>
                    <a:gs pos="100000">
                      <a:srgbClr val="FFFFFF">
                        <a:alpha val="100000"/>
                      </a:srgbClr>
                    </a:gs>
                  </a:gsLst>
                  <a:lin ang="2700000"/>
                </a:gradFill>
                <a:latin typeface="HK Modular"/>
                <a:ea typeface="HK Modular"/>
                <a:cs typeface="HK Modular"/>
                <a:sym typeface="HK Modular"/>
              </a:rPr>
              <a:t>WHAT IS THE PROBLEM?</a:t>
            </a:r>
          </a:p>
        </p:txBody>
      </p:sp>
      <p:sp>
        <p:nvSpPr>
          <p:cNvPr id="14" name="TextBox 14"/>
          <p:cNvSpPr txBox="1"/>
          <p:nvPr/>
        </p:nvSpPr>
        <p:spPr>
          <a:xfrm>
            <a:off x="1028700" y="3572929"/>
            <a:ext cx="9749202" cy="1768776"/>
          </a:xfrm>
          <a:prstGeom prst="rect">
            <a:avLst/>
          </a:prstGeom>
        </p:spPr>
        <p:txBody>
          <a:bodyPr lIns="0" tIns="0" rIns="0" bIns="0" rtlCol="0" anchor="t">
            <a:spAutoFit/>
          </a:bodyPr>
          <a:lstStyle/>
          <a:p>
            <a:pPr marL="0" lvl="0" indent="0" algn="just">
              <a:lnSpc>
                <a:spcPts val="2783"/>
              </a:lnSpc>
              <a:spcBef>
                <a:spcPct val="0"/>
              </a:spcBef>
            </a:pPr>
            <a:r>
              <a:rPr lang="en-US" sz="1988">
                <a:solidFill>
                  <a:srgbClr val="FFFFFF"/>
                </a:solidFill>
                <a:latin typeface="Poppins"/>
                <a:ea typeface="Poppins"/>
                <a:cs typeface="Poppins"/>
                <a:sym typeface="Poppins"/>
              </a:rPr>
              <a:t>SIH26024 — AI-Based Smart Governance and Compliance Monitoring System for Coal Mines. Mining operations generate vast amounts of governance data: inspections, safety observations, statutory violations, corrective actions, equipment maintenance, contractor performance, and environmental records — all fragmented across disconnected systems and documents.</a:t>
            </a:r>
          </a:p>
        </p:txBody>
      </p:sp>
      <p:sp>
        <p:nvSpPr>
          <p:cNvPr id="15" name="TextBox 15"/>
          <p:cNvSpPr txBox="1"/>
          <p:nvPr/>
        </p:nvSpPr>
        <p:spPr>
          <a:xfrm>
            <a:off x="2188263" y="6626324"/>
            <a:ext cx="7430077" cy="2121201"/>
          </a:xfrm>
          <a:prstGeom prst="rect">
            <a:avLst/>
          </a:prstGeom>
        </p:spPr>
        <p:txBody>
          <a:bodyPr lIns="0" tIns="0" rIns="0" bIns="0" rtlCol="0" anchor="t">
            <a:spAutoFit/>
          </a:bodyPr>
          <a:lstStyle/>
          <a:p>
            <a:pPr marL="0" lvl="0" indent="0" algn="just">
              <a:lnSpc>
                <a:spcPts val="2783"/>
              </a:lnSpc>
              <a:spcBef>
                <a:spcPct val="0"/>
              </a:spcBef>
            </a:pPr>
            <a:r>
              <a:rPr lang="en-US" sz="1988">
                <a:solidFill>
                  <a:srgbClr val="000000"/>
                </a:solidFill>
                <a:latin typeface="Poppins"/>
                <a:ea typeface="Poppins"/>
                <a:cs typeface="Poppins"/>
                <a:sym typeface="Poppins"/>
              </a:rPr>
              <a:t>When critical governance signals are siloed across different platforms, mine management struggles to identify emerging compliance risks early, prioritize interventions, and maintain regulatory oversight — leaving operations vulnerable to safety failures and statutory violations.</a:t>
            </a:r>
          </a:p>
        </p:txBody>
      </p:sp>
      <p:sp>
        <p:nvSpPr>
          <p:cNvPr id="16" name="TextBox 16"/>
          <p:cNvSpPr txBox="1"/>
          <p:nvPr/>
        </p:nvSpPr>
        <p:spPr>
          <a:xfrm>
            <a:off x="15446772" y="962025"/>
            <a:ext cx="781325" cy="879520"/>
          </a:xfrm>
          <a:prstGeom prst="rect">
            <a:avLst/>
          </a:prstGeom>
        </p:spPr>
        <p:txBody>
          <a:bodyPr lIns="0" tIns="0" rIns="0" bIns="0" rtlCol="0" anchor="t">
            <a:spAutoFit/>
          </a:bodyPr>
          <a:lstStyle/>
          <a:p>
            <a:pPr marL="0" lvl="0" indent="0" algn="l">
              <a:lnSpc>
                <a:spcPts val="3497"/>
              </a:lnSpc>
              <a:spcBef>
                <a:spcPct val="0"/>
              </a:spcBef>
            </a:pPr>
            <a:r>
              <a:rPr lang="en-US" sz="2498">
                <a:solidFill>
                  <a:srgbClr val="FFFFFF"/>
                </a:solidFill>
                <a:latin typeface="Poppins"/>
                <a:ea typeface="Poppins"/>
                <a:cs typeface="Poppins"/>
                <a:sym typeface="Poppins"/>
              </a:rPr>
              <a:t>Next Slide</a:t>
            </a:r>
          </a:p>
        </p:txBody>
      </p:sp>
      <p:grpSp>
        <p:nvGrpSpPr>
          <p:cNvPr id="17" name="Group 17"/>
          <p:cNvGrpSpPr/>
          <p:nvPr/>
        </p:nvGrpSpPr>
        <p:grpSpPr>
          <a:xfrm>
            <a:off x="11889525" y="3273716"/>
            <a:ext cx="612498" cy="712725"/>
            <a:chOff x="0" y="0"/>
            <a:chExt cx="698500" cy="812800"/>
          </a:xfrm>
        </p:grpSpPr>
        <p:sp>
          <p:nvSpPr>
            <p:cNvPr id="18" name="Freeform 18"/>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28575" cap="sq">
              <a:solidFill>
                <a:srgbClr val="FFFFFF"/>
              </a:solidFill>
              <a:prstDash val="solid"/>
              <a:miter/>
            </a:ln>
          </p:spPr>
        </p:sp>
        <p:sp>
          <p:nvSpPr>
            <p:cNvPr id="19" name="TextBox 19"/>
            <p:cNvSpPr txBox="1"/>
            <p:nvPr/>
          </p:nvSpPr>
          <p:spPr>
            <a:xfrm>
              <a:off x="0" y="73025"/>
              <a:ext cx="698500" cy="600075"/>
            </a:xfrm>
            <a:prstGeom prst="rect">
              <a:avLst/>
            </a:prstGeom>
          </p:spPr>
          <p:txBody>
            <a:bodyPr lIns="50800" tIns="50800" rIns="50800" bIns="50800" rtlCol="0" anchor="ctr"/>
            <a:lstStyle/>
            <a:p>
              <a:pPr marL="0" lvl="0" indent="0" algn="ctr">
                <a:lnSpc>
                  <a:spcPts val="3499"/>
                </a:lnSpc>
              </a:pPr>
              <a:endParaRPr/>
            </a:p>
          </p:txBody>
        </p:sp>
      </p:grpSp>
      <p:grpSp>
        <p:nvGrpSpPr>
          <p:cNvPr id="20" name="Group 20"/>
          <p:cNvGrpSpPr/>
          <p:nvPr/>
        </p:nvGrpSpPr>
        <p:grpSpPr>
          <a:xfrm>
            <a:off x="15363283" y="7458492"/>
            <a:ext cx="1546710" cy="1799808"/>
            <a:chOff x="0" y="0"/>
            <a:chExt cx="698500" cy="812800"/>
          </a:xfrm>
        </p:grpSpPr>
        <p:sp>
          <p:nvSpPr>
            <p:cNvPr id="21" name="Freeform 2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28575" cap="sq">
              <a:solidFill>
                <a:srgbClr val="FFFFFF"/>
              </a:solidFill>
              <a:prstDash val="solid"/>
              <a:miter/>
            </a:ln>
          </p:spPr>
        </p:sp>
        <p:sp>
          <p:nvSpPr>
            <p:cNvPr id="22" name="TextBox 22"/>
            <p:cNvSpPr txBox="1"/>
            <p:nvPr/>
          </p:nvSpPr>
          <p:spPr>
            <a:xfrm>
              <a:off x="0" y="73025"/>
              <a:ext cx="698500" cy="600075"/>
            </a:xfrm>
            <a:prstGeom prst="rect">
              <a:avLst/>
            </a:prstGeom>
          </p:spPr>
          <p:txBody>
            <a:bodyPr lIns="50800" tIns="50800" rIns="50800" bIns="50800" rtlCol="0" anchor="ctr"/>
            <a:lstStyle/>
            <a:p>
              <a:pPr marL="0" lvl="0" indent="0" algn="ctr">
                <a:lnSpc>
                  <a:spcPts val="3499"/>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92C">
                <a:alpha val="100000"/>
              </a:srgbClr>
            </a:gs>
            <a:gs pos="100000">
              <a:srgbClr val="00000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009852" y="1028700"/>
            <a:ext cx="10590603" cy="10109212"/>
          </a:xfrm>
          <a:custGeom>
            <a:avLst/>
            <a:gdLst/>
            <a:ahLst/>
            <a:cxnLst/>
            <a:rect l="l" t="t" r="r" b="b"/>
            <a:pathLst>
              <a:path w="10590603" h="10109212">
                <a:moveTo>
                  <a:pt x="0" y="0"/>
                </a:moveTo>
                <a:lnTo>
                  <a:pt x="10590603" y="0"/>
                </a:lnTo>
                <a:lnTo>
                  <a:pt x="10590603" y="10109212"/>
                </a:lnTo>
                <a:lnTo>
                  <a:pt x="0" y="10109212"/>
                </a:lnTo>
                <a:lnTo>
                  <a:pt x="0" y="0"/>
                </a:lnTo>
                <a:close/>
              </a:path>
            </a:pathLst>
          </a:custGeom>
          <a:blipFill>
            <a:blip>
              <a:alphaModFix amt="2000"/>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1707249" y="-850912"/>
            <a:ext cx="10590603" cy="10109212"/>
          </a:xfrm>
          <a:custGeom>
            <a:avLst/>
            <a:gdLst/>
            <a:ahLst/>
            <a:cxnLst/>
            <a:rect l="l" t="t" r="r" b="b"/>
            <a:pathLst>
              <a:path w="10590603" h="10109212">
                <a:moveTo>
                  <a:pt x="10590603" y="10109212"/>
                </a:moveTo>
                <a:lnTo>
                  <a:pt x="0" y="10109212"/>
                </a:lnTo>
                <a:lnTo>
                  <a:pt x="0" y="0"/>
                </a:lnTo>
                <a:lnTo>
                  <a:pt x="10590603" y="0"/>
                </a:lnTo>
                <a:lnTo>
                  <a:pt x="10590603" y="10109212"/>
                </a:lnTo>
                <a:close/>
              </a:path>
            </a:pathLst>
          </a:custGeom>
          <a:blipFill>
            <a:blip>
              <a:alphaModFix amt="2000"/>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1028700" y="904875"/>
            <a:ext cx="8497092" cy="2086082"/>
          </a:xfrm>
          <a:prstGeom prst="rect">
            <a:avLst/>
          </a:prstGeom>
        </p:spPr>
        <p:txBody>
          <a:bodyPr lIns="0" tIns="0" rIns="0" bIns="0" rtlCol="0" anchor="t">
            <a:spAutoFit/>
          </a:bodyPr>
          <a:lstStyle/>
          <a:p>
            <a:pPr marL="0" lvl="0" indent="0" algn="l">
              <a:lnSpc>
                <a:spcPts val="8394"/>
              </a:lnSpc>
              <a:spcBef>
                <a:spcPct val="0"/>
              </a:spcBef>
            </a:pPr>
            <a:r>
              <a:rPr lang="en-US" sz="5995" b="1">
                <a:gradFill>
                  <a:gsLst>
                    <a:gs pos="0">
                      <a:srgbClr val="51DACF">
                        <a:alpha val="100000"/>
                      </a:srgbClr>
                    </a:gs>
                    <a:gs pos="100000">
                      <a:srgbClr val="FFFFFF">
                        <a:alpha val="100000"/>
                      </a:srgbClr>
                    </a:gs>
                  </a:gsLst>
                  <a:lin ang="2700000"/>
                </a:gradFill>
                <a:latin typeface="HK Modular"/>
                <a:ea typeface="HK Modular"/>
                <a:cs typeface="HK Modular"/>
                <a:sym typeface="HK Modular"/>
              </a:rPr>
              <a:t>CHALLENGES TO OVERCOME</a:t>
            </a:r>
          </a:p>
        </p:txBody>
      </p:sp>
      <p:sp>
        <p:nvSpPr>
          <p:cNvPr id="5" name="TextBox 5"/>
          <p:cNvSpPr txBox="1"/>
          <p:nvPr/>
        </p:nvSpPr>
        <p:spPr>
          <a:xfrm>
            <a:off x="1028700" y="3435410"/>
            <a:ext cx="7295245" cy="373479"/>
          </a:xfrm>
          <a:prstGeom prst="rect">
            <a:avLst/>
          </a:prstGeom>
        </p:spPr>
        <p:txBody>
          <a:bodyPr lIns="0" tIns="0" rIns="0" bIns="0" rtlCol="0" anchor="t">
            <a:spAutoFit/>
          </a:bodyPr>
          <a:lstStyle/>
          <a:p>
            <a:pPr marL="0" lvl="0" indent="0" algn="just">
              <a:lnSpc>
                <a:spcPts val="3039"/>
              </a:lnSpc>
              <a:spcBef>
                <a:spcPct val="0"/>
              </a:spcBef>
            </a:pPr>
            <a:r>
              <a:rPr lang="en-US" sz="2171" b="1">
                <a:gradFill>
                  <a:gsLst>
                    <a:gs pos="0">
                      <a:srgbClr val="51DACF">
                        <a:alpha val="100000"/>
                      </a:srgbClr>
                    </a:gs>
                    <a:gs pos="100000">
                      <a:srgbClr val="FFFFFF">
                        <a:alpha val="100000"/>
                      </a:srgbClr>
                    </a:gs>
                  </a:gsLst>
                  <a:lin ang="2700000"/>
                </a:gradFill>
                <a:latin typeface="HK Modular"/>
                <a:ea typeface="HK Modular"/>
                <a:cs typeface="HK Modular"/>
                <a:sym typeface="HK Modular"/>
              </a:rPr>
              <a:t>Fragmented Inspections</a:t>
            </a:r>
          </a:p>
        </p:txBody>
      </p:sp>
      <p:sp>
        <p:nvSpPr>
          <p:cNvPr id="6" name="TextBox 6"/>
          <p:cNvSpPr txBox="1"/>
          <p:nvPr/>
        </p:nvSpPr>
        <p:spPr>
          <a:xfrm>
            <a:off x="1028700" y="4114794"/>
            <a:ext cx="7894223" cy="972399"/>
          </a:xfrm>
          <a:prstGeom prst="rect">
            <a:avLst/>
          </a:prstGeom>
        </p:spPr>
        <p:txBody>
          <a:bodyPr lIns="0" tIns="0" rIns="0" bIns="0" rtlCol="0" anchor="t">
            <a:spAutoFit/>
          </a:bodyPr>
          <a:lstStyle/>
          <a:p>
            <a:pPr marL="0" lvl="0" indent="0" algn="just">
              <a:lnSpc>
                <a:spcPts val="2578"/>
              </a:lnSpc>
              <a:spcBef>
                <a:spcPct val="0"/>
              </a:spcBef>
            </a:pPr>
            <a:r>
              <a:rPr lang="en-US" sz="1841">
                <a:solidFill>
                  <a:srgbClr val="FFFFFF"/>
                </a:solidFill>
                <a:latin typeface="Poppins"/>
                <a:ea typeface="Poppins"/>
                <a:cs typeface="Poppins"/>
                <a:sym typeface="Poppins"/>
              </a:rPr>
              <a:t>Inspection records are scattered across paper logs, spreadsheets, and siloed databases, making it impossible to track compliance status or identify recurring violations in real time.</a:t>
            </a:r>
          </a:p>
        </p:txBody>
      </p:sp>
      <p:sp>
        <p:nvSpPr>
          <p:cNvPr id="7" name="TextBox 7"/>
          <p:cNvSpPr txBox="1"/>
          <p:nvPr/>
        </p:nvSpPr>
        <p:spPr>
          <a:xfrm>
            <a:off x="1028700" y="7524915"/>
            <a:ext cx="7295245" cy="373479"/>
          </a:xfrm>
          <a:prstGeom prst="rect">
            <a:avLst/>
          </a:prstGeom>
        </p:spPr>
        <p:txBody>
          <a:bodyPr lIns="0" tIns="0" rIns="0" bIns="0" rtlCol="0" anchor="t">
            <a:spAutoFit/>
          </a:bodyPr>
          <a:lstStyle/>
          <a:p>
            <a:pPr marL="0" lvl="0" indent="0" algn="just">
              <a:lnSpc>
                <a:spcPts val="3039"/>
              </a:lnSpc>
              <a:spcBef>
                <a:spcPct val="0"/>
              </a:spcBef>
            </a:pPr>
            <a:r>
              <a:rPr lang="en-US" sz="2171" b="1">
                <a:gradFill>
                  <a:gsLst>
                    <a:gs pos="0">
                      <a:srgbClr val="51DACF">
                        <a:alpha val="100000"/>
                      </a:srgbClr>
                    </a:gs>
                    <a:gs pos="100000">
                      <a:srgbClr val="FFFFFF">
                        <a:alpha val="100000"/>
                      </a:srgbClr>
                    </a:gs>
                  </a:gsLst>
                  <a:lin ang="2700000"/>
                </a:gradFill>
                <a:latin typeface="HK Modular"/>
                <a:ea typeface="HK Modular"/>
                <a:cs typeface="HK Modular"/>
                <a:sym typeface="HK Modular"/>
              </a:rPr>
              <a:t>Siloed Statutory Violations</a:t>
            </a:r>
          </a:p>
        </p:txBody>
      </p:sp>
      <p:sp>
        <p:nvSpPr>
          <p:cNvPr id="8" name="TextBox 8"/>
          <p:cNvSpPr txBox="1"/>
          <p:nvPr/>
        </p:nvSpPr>
        <p:spPr>
          <a:xfrm>
            <a:off x="1028700" y="8204299"/>
            <a:ext cx="7894223" cy="972399"/>
          </a:xfrm>
          <a:prstGeom prst="rect">
            <a:avLst/>
          </a:prstGeom>
        </p:spPr>
        <p:txBody>
          <a:bodyPr lIns="0" tIns="0" rIns="0" bIns="0" rtlCol="0" anchor="t">
            <a:spAutoFit/>
          </a:bodyPr>
          <a:lstStyle/>
          <a:p>
            <a:pPr marL="0" lvl="0" indent="0" algn="just">
              <a:lnSpc>
                <a:spcPts val="2578"/>
              </a:lnSpc>
              <a:spcBef>
                <a:spcPct val="0"/>
              </a:spcBef>
            </a:pPr>
            <a:r>
              <a:rPr lang="en-US" sz="1841">
                <a:solidFill>
                  <a:srgbClr val="FFFFFF"/>
                </a:solidFill>
                <a:latin typeface="Poppins"/>
                <a:ea typeface="Poppins"/>
                <a:cs typeface="Poppins"/>
                <a:sym typeface="Poppins"/>
              </a:rPr>
              <a:t>Statutory violation data is managed in disconnected systems across departments, creating blind spots for management and delaying regulatory response, escalating legal and operational risk.</a:t>
            </a:r>
          </a:p>
        </p:txBody>
      </p:sp>
      <p:sp>
        <p:nvSpPr>
          <p:cNvPr id="9" name="TextBox 9"/>
          <p:cNvSpPr txBox="1"/>
          <p:nvPr/>
        </p:nvSpPr>
        <p:spPr>
          <a:xfrm>
            <a:off x="9365077" y="3435410"/>
            <a:ext cx="7295245" cy="373479"/>
          </a:xfrm>
          <a:prstGeom prst="rect">
            <a:avLst/>
          </a:prstGeom>
        </p:spPr>
        <p:txBody>
          <a:bodyPr lIns="0" tIns="0" rIns="0" bIns="0" rtlCol="0" anchor="t">
            <a:spAutoFit/>
          </a:bodyPr>
          <a:lstStyle/>
          <a:p>
            <a:pPr marL="0" lvl="0" indent="0" algn="just">
              <a:lnSpc>
                <a:spcPts val="3039"/>
              </a:lnSpc>
              <a:spcBef>
                <a:spcPct val="0"/>
              </a:spcBef>
            </a:pPr>
            <a:r>
              <a:rPr lang="en-US" sz="2171" b="1">
                <a:gradFill>
                  <a:gsLst>
                    <a:gs pos="0">
                      <a:srgbClr val="51DACF">
                        <a:alpha val="100000"/>
                      </a:srgbClr>
                    </a:gs>
                    <a:gs pos="100000">
                      <a:srgbClr val="FFFFFF">
                        <a:alpha val="100000"/>
                      </a:srgbClr>
                    </a:gs>
                  </a:gsLst>
                  <a:lin ang="2700000"/>
                </a:gradFill>
                <a:latin typeface="HK Modular"/>
                <a:ea typeface="HK Modular"/>
                <a:cs typeface="HK Modular"/>
                <a:sym typeface="HK Modular"/>
              </a:rPr>
              <a:t>Disconnected Corrective Actions</a:t>
            </a:r>
          </a:p>
        </p:txBody>
      </p:sp>
      <p:sp>
        <p:nvSpPr>
          <p:cNvPr id="10" name="TextBox 10"/>
          <p:cNvSpPr txBox="1"/>
          <p:nvPr/>
        </p:nvSpPr>
        <p:spPr>
          <a:xfrm>
            <a:off x="9365077" y="4114794"/>
            <a:ext cx="7894223" cy="972399"/>
          </a:xfrm>
          <a:prstGeom prst="rect">
            <a:avLst/>
          </a:prstGeom>
        </p:spPr>
        <p:txBody>
          <a:bodyPr lIns="0" tIns="0" rIns="0" bIns="0" rtlCol="0" anchor="t">
            <a:spAutoFit/>
          </a:bodyPr>
          <a:lstStyle/>
          <a:p>
            <a:pPr marL="0" lvl="0" indent="0" algn="just">
              <a:lnSpc>
                <a:spcPts val="2578"/>
              </a:lnSpc>
              <a:spcBef>
                <a:spcPct val="0"/>
              </a:spcBef>
            </a:pPr>
            <a:r>
              <a:rPr lang="en-US" sz="1841">
                <a:solidFill>
                  <a:srgbClr val="FFFFFF"/>
                </a:solidFill>
                <a:latin typeface="Poppins"/>
                <a:ea typeface="Poppins"/>
                <a:cs typeface="Poppins"/>
                <a:sym typeface="Poppins"/>
              </a:rPr>
              <a:t>Corrective action plans are tracked manually and independently, with no linkage to root cause findings or compliance outcomes, resulting in repeated violations and unresolved hazards.</a:t>
            </a:r>
          </a:p>
        </p:txBody>
      </p:sp>
      <p:sp>
        <p:nvSpPr>
          <p:cNvPr id="11" name="TextBox 11"/>
          <p:cNvSpPr txBox="1"/>
          <p:nvPr/>
        </p:nvSpPr>
        <p:spPr>
          <a:xfrm>
            <a:off x="9365077" y="7524915"/>
            <a:ext cx="7295245" cy="373479"/>
          </a:xfrm>
          <a:prstGeom prst="rect">
            <a:avLst/>
          </a:prstGeom>
        </p:spPr>
        <p:txBody>
          <a:bodyPr lIns="0" tIns="0" rIns="0" bIns="0" rtlCol="0" anchor="t">
            <a:spAutoFit/>
          </a:bodyPr>
          <a:lstStyle/>
          <a:p>
            <a:pPr marL="0" lvl="0" indent="0" algn="just">
              <a:lnSpc>
                <a:spcPts val="3039"/>
              </a:lnSpc>
              <a:spcBef>
                <a:spcPct val="0"/>
              </a:spcBef>
            </a:pPr>
            <a:r>
              <a:rPr lang="en-US" sz="2171" b="1">
                <a:gradFill>
                  <a:gsLst>
                    <a:gs pos="0">
                      <a:srgbClr val="51DACF">
                        <a:alpha val="100000"/>
                      </a:srgbClr>
                    </a:gs>
                    <a:gs pos="100000">
                      <a:srgbClr val="FFFFFF">
                        <a:alpha val="100000"/>
                      </a:srgbClr>
                    </a:gs>
                  </a:gsLst>
                  <a:lin ang="2700000"/>
                </a:gradFill>
                <a:latin typeface="HK Modular"/>
                <a:ea typeface="HK Modular"/>
                <a:cs typeface="HK Modular"/>
                <a:sym typeface="HK Modular"/>
              </a:rPr>
              <a:t>Isolated Contractor Performance</a:t>
            </a:r>
          </a:p>
        </p:txBody>
      </p:sp>
      <p:sp>
        <p:nvSpPr>
          <p:cNvPr id="12" name="TextBox 12"/>
          <p:cNvSpPr txBox="1"/>
          <p:nvPr/>
        </p:nvSpPr>
        <p:spPr>
          <a:xfrm>
            <a:off x="9365077" y="8204299"/>
            <a:ext cx="7894223" cy="972399"/>
          </a:xfrm>
          <a:prstGeom prst="rect">
            <a:avLst/>
          </a:prstGeom>
        </p:spPr>
        <p:txBody>
          <a:bodyPr lIns="0" tIns="0" rIns="0" bIns="0" rtlCol="0" anchor="t">
            <a:spAutoFit/>
          </a:bodyPr>
          <a:lstStyle/>
          <a:p>
            <a:pPr marL="0" lvl="0" indent="0" algn="just">
              <a:lnSpc>
                <a:spcPts val="2578"/>
              </a:lnSpc>
              <a:spcBef>
                <a:spcPct val="0"/>
              </a:spcBef>
            </a:pPr>
            <a:r>
              <a:rPr lang="en-US" sz="1841">
                <a:solidFill>
                  <a:srgbClr val="FFFFFF"/>
                </a:solidFill>
                <a:latin typeface="Poppins"/>
                <a:ea typeface="Poppins"/>
                <a:cs typeface="Poppins"/>
                <a:sym typeface="Poppins"/>
              </a:rPr>
              <a:t>Contractor compliance and performance data is not integrated with mine governance systems, creating accountability gaps and exposing operations to unmonitored third-party safety risks.</a:t>
            </a:r>
          </a:p>
        </p:txBody>
      </p:sp>
      <p:sp>
        <p:nvSpPr>
          <p:cNvPr id="13" name="TextBox 13"/>
          <p:cNvSpPr txBox="1"/>
          <p:nvPr/>
        </p:nvSpPr>
        <p:spPr>
          <a:xfrm>
            <a:off x="1028700" y="5480163"/>
            <a:ext cx="7295245" cy="373479"/>
          </a:xfrm>
          <a:prstGeom prst="rect">
            <a:avLst/>
          </a:prstGeom>
        </p:spPr>
        <p:txBody>
          <a:bodyPr lIns="0" tIns="0" rIns="0" bIns="0" rtlCol="0" anchor="t">
            <a:spAutoFit/>
          </a:bodyPr>
          <a:lstStyle/>
          <a:p>
            <a:pPr marL="0" lvl="0" indent="0" algn="just">
              <a:lnSpc>
                <a:spcPts val="3039"/>
              </a:lnSpc>
              <a:spcBef>
                <a:spcPct val="0"/>
              </a:spcBef>
            </a:pPr>
            <a:r>
              <a:rPr lang="en-US" sz="2171" b="1">
                <a:gradFill>
                  <a:gsLst>
                    <a:gs pos="0">
                      <a:srgbClr val="51DACF">
                        <a:alpha val="100000"/>
                      </a:srgbClr>
                    </a:gs>
                    <a:gs pos="100000">
                      <a:srgbClr val="FFFFFF">
                        <a:alpha val="100000"/>
                      </a:srgbClr>
                    </a:gs>
                  </a:gsLst>
                  <a:lin ang="2700000"/>
                </a:gradFill>
                <a:latin typeface="HK Modular"/>
                <a:ea typeface="HK Modular"/>
                <a:cs typeface="HK Modular"/>
                <a:sym typeface="HK Modular"/>
              </a:rPr>
              <a:t>Scattered Safety Observations</a:t>
            </a:r>
          </a:p>
        </p:txBody>
      </p:sp>
      <p:sp>
        <p:nvSpPr>
          <p:cNvPr id="14" name="TextBox 14"/>
          <p:cNvSpPr txBox="1"/>
          <p:nvPr/>
        </p:nvSpPr>
        <p:spPr>
          <a:xfrm>
            <a:off x="1028700" y="6159547"/>
            <a:ext cx="7894223" cy="972399"/>
          </a:xfrm>
          <a:prstGeom prst="rect">
            <a:avLst/>
          </a:prstGeom>
        </p:spPr>
        <p:txBody>
          <a:bodyPr lIns="0" tIns="0" rIns="0" bIns="0" rtlCol="0" anchor="t">
            <a:spAutoFit/>
          </a:bodyPr>
          <a:lstStyle/>
          <a:p>
            <a:pPr marL="0" lvl="0" indent="0" algn="just">
              <a:lnSpc>
                <a:spcPts val="2578"/>
              </a:lnSpc>
              <a:spcBef>
                <a:spcPct val="0"/>
              </a:spcBef>
            </a:pPr>
            <a:r>
              <a:rPr lang="en-US" sz="1841">
                <a:solidFill>
                  <a:srgbClr val="FFFFFF"/>
                </a:solidFill>
                <a:latin typeface="Poppins"/>
                <a:ea typeface="Poppins"/>
                <a:cs typeface="Poppins"/>
                <a:sym typeface="Poppins"/>
              </a:rPr>
              <a:t>Safety observations from field personnel exist in isolation, with no unified system to correlate near-miss events, hazard reports, and behavioral patterns into actionable risk intelligence.</a:t>
            </a:r>
          </a:p>
        </p:txBody>
      </p:sp>
      <p:sp>
        <p:nvSpPr>
          <p:cNvPr id="15" name="TextBox 15"/>
          <p:cNvSpPr txBox="1"/>
          <p:nvPr/>
        </p:nvSpPr>
        <p:spPr>
          <a:xfrm>
            <a:off x="9365077" y="5480163"/>
            <a:ext cx="7295245" cy="373479"/>
          </a:xfrm>
          <a:prstGeom prst="rect">
            <a:avLst/>
          </a:prstGeom>
        </p:spPr>
        <p:txBody>
          <a:bodyPr lIns="0" tIns="0" rIns="0" bIns="0" rtlCol="0" anchor="t">
            <a:spAutoFit/>
          </a:bodyPr>
          <a:lstStyle/>
          <a:p>
            <a:pPr marL="0" lvl="0" indent="0" algn="just">
              <a:lnSpc>
                <a:spcPts val="3039"/>
              </a:lnSpc>
              <a:spcBef>
                <a:spcPct val="0"/>
              </a:spcBef>
            </a:pPr>
            <a:r>
              <a:rPr lang="en-US" sz="2171" b="1">
                <a:gradFill>
                  <a:gsLst>
                    <a:gs pos="0">
                      <a:srgbClr val="51DACF">
                        <a:alpha val="100000"/>
                      </a:srgbClr>
                    </a:gs>
                    <a:gs pos="100000">
                      <a:srgbClr val="FFFFFF">
                        <a:alpha val="100000"/>
                      </a:srgbClr>
                    </a:gs>
                  </a:gsLst>
                  <a:lin ang="2700000"/>
                </a:gradFill>
                <a:latin typeface="HK Modular"/>
                <a:ea typeface="HK Modular"/>
                <a:cs typeface="HK Modular"/>
                <a:sym typeface="HK Modular"/>
              </a:rPr>
              <a:t>Unlinked Equipment Maintenance</a:t>
            </a:r>
          </a:p>
        </p:txBody>
      </p:sp>
      <p:sp>
        <p:nvSpPr>
          <p:cNvPr id="16" name="TextBox 16"/>
          <p:cNvSpPr txBox="1"/>
          <p:nvPr/>
        </p:nvSpPr>
        <p:spPr>
          <a:xfrm>
            <a:off x="9365077" y="6159547"/>
            <a:ext cx="7894223" cy="972399"/>
          </a:xfrm>
          <a:prstGeom prst="rect">
            <a:avLst/>
          </a:prstGeom>
        </p:spPr>
        <p:txBody>
          <a:bodyPr lIns="0" tIns="0" rIns="0" bIns="0" rtlCol="0" anchor="t">
            <a:spAutoFit/>
          </a:bodyPr>
          <a:lstStyle/>
          <a:p>
            <a:pPr marL="0" lvl="0" indent="0" algn="just">
              <a:lnSpc>
                <a:spcPts val="2578"/>
              </a:lnSpc>
              <a:spcBef>
                <a:spcPct val="0"/>
              </a:spcBef>
            </a:pPr>
            <a:r>
              <a:rPr lang="en-US" sz="1841">
                <a:solidFill>
                  <a:srgbClr val="FFFFFF"/>
                </a:solidFill>
                <a:latin typeface="Poppins"/>
                <a:ea typeface="Poppins"/>
                <a:cs typeface="Poppins"/>
                <a:sym typeface="Poppins"/>
              </a:rPr>
              <a:t>Equipment maintenance logs are isolated from safety and compliance workflows, preventing early detection of failure patterns that could trigger safety incidents or regulatory breaches.</a:t>
            </a:r>
          </a:p>
        </p:txBody>
      </p:sp>
      <p:grpSp>
        <p:nvGrpSpPr>
          <p:cNvPr id="17" name="Group 17"/>
          <p:cNvGrpSpPr/>
          <p:nvPr/>
        </p:nvGrpSpPr>
        <p:grpSpPr>
          <a:xfrm>
            <a:off x="16560686" y="1028700"/>
            <a:ext cx="698614" cy="812932"/>
            <a:chOff x="0" y="0"/>
            <a:chExt cx="698500" cy="812800"/>
          </a:xfrm>
        </p:grpSpPr>
        <p:sp>
          <p:nvSpPr>
            <p:cNvPr id="18" name="Freeform 18"/>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28575" cap="sq">
              <a:solidFill>
                <a:srgbClr val="FFFFFF"/>
              </a:solidFill>
              <a:prstDash val="solid"/>
              <a:miter/>
            </a:ln>
          </p:spPr>
        </p:sp>
        <p:sp>
          <p:nvSpPr>
            <p:cNvPr id="19" name="TextBox 19"/>
            <p:cNvSpPr txBox="1"/>
            <p:nvPr/>
          </p:nvSpPr>
          <p:spPr>
            <a:xfrm>
              <a:off x="0" y="73025"/>
              <a:ext cx="698500" cy="600075"/>
            </a:xfrm>
            <a:prstGeom prst="rect">
              <a:avLst/>
            </a:prstGeom>
          </p:spPr>
          <p:txBody>
            <a:bodyPr lIns="50800" tIns="50800" rIns="50800" bIns="50800" rtlCol="0" anchor="ctr"/>
            <a:lstStyle/>
            <a:p>
              <a:pPr marL="0" lvl="0" indent="0" algn="ctr">
                <a:lnSpc>
                  <a:spcPts val="3499"/>
                </a:lnSpc>
              </a:pPr>
              <a:endParaRPr/>
            </a:p>
          </p:txBody>
        </p:sp>
      </p:grpSp>
      <p:sp>
        <p:nvSpPr>
          <p:cNvPr id="20" name="Freeform 20"/>
          <p:cNvSpPr/>
          <p:nvPr/>
        </p:nvSpPr>
        <p:spPr>
          <a:xfrm>
            <a:off x="16747571" y="1286550"/>
            <a:ext cx="324844" cy="297232"/>
          </a:xfrm>
          <a:custGeom>
            <a:avLst/>
            <a:gdLst/>
            <a:ahLst/>
            <a:cxnLst/>
            <a:rect l="l" t="t" r="r" b="b"/>
            <a:pathLst>
              <a:path w="324844" h="297232">
                <a:moveTo>
                  <a:pt x="0" y="0"/>
                </a:moveTo>
                <a:lnTo>
                  <a:pt x="324844" y="0"/>
                </a:lnTo>
                <a:lnTo>
                  <a:pt x="324844" y="297232"/>
                </a:lnTo>
                <a:lnTo>
                  <a:pt x="0" y="29723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1" name="TextBox 21"/>
          <p:cNvSpPr txBox="1"/>
          <p:nvPr/>
        </p:nvSpPr>
        <p:spPr>
          <a:xfrm>
            <a:off x="15446772" y="962025"/>
            <a:ext cx="781325" cy="773529"/>
          </a:xfrm>
          <a:prstGeom prst="rect">
            <a:avLst/>
          </a:prstGeom>
        </p:spPr>
        <p:txBody>
          <a:bodyPr lIns="0" tIns="0" rIns="0" bIns="0" rtlCol="0" anchor="t">
            <a:spAutoFit/>
          </a:bodyPr>
          <a:lstStyle/>
          <a:p>
            <a:pPr marL="0" lvl="0" indent="0" algn="l">
              <a:lnSpc>
                <a:spcPts val="3039"/>
              </a:lnSpc>
              <a:spcBef>
                <a:spcPct val="0"/>
              </a:spcBef>
            </a:pPr>
            <a:r>
              <a:rPr lang="en-US" sz="2171">
                <a:solidFill>
                  <a:srgbClr val="FFFFFF"/>
                </a:solidFill>
                <a:latin typeface="Poppins"/>
                <a:ea typeface="Poppins"/>
                <a:cs typeface="Poppins"/>
                <a:sym typeface="Poppins"/>
              </a:rPr>
              <a:t>Next Slide</a:t>
            </a:r>
          </a:p>
        </p:txBody>
      </p:sp>
      <p:grpSp>
        <p:nvGrpSpPr>
          <p:cNvPr id="22" name="Group 22"/>
          <p:cNvGrpSpPr/>
          <p:nvPr/>
        </p:nvGrpSpPr>
        <p:grpSpPr>
          <a:xfrm>
            <a:off x="13852967" y="2019267"/>
            <a:ext cx="673239" cy="783406"/>
            <a:chOff x="0" y="0"/>
            <a:chExt cx="698500" cy="812800"/>
          </a:xfrm>
        </p:grpSpPr>
        <p:sp>
          <p:nvSpPr>
            <p:cNvPr id="23" name="Freeform 23"/>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28575" cap="sq">
              <a:solidFill>
                <a:srgbClr val="FFFFFF"/>
              </a:solidFill>
              <a:prstDash val="solid"/>
              <a:miter/>
            </a:ln>
          </p:spPr>
        </p:sp>
        <p:sp>
          <p:nvSpPr>
            <p:cNvPr id="24" name="TextBox 24"/>
            <p:cNvSpPr txBox="1"/>
            <p:nvPr/>
          </p:nvSpPr>
          <p:spPr>
            <a:xfrm>
              <a:off x="0" y="73025"/>
              <a:ext cx="698500" cy="600075"/>
            </a:xfrm>
            <a:prstGeom prst="rect">
              <a:avLst/>
            </a:prstGeom>
          </p:spPr>
          <p:txBody>
            <a:bodyPr lIns="50800" tIns="50800" rIns="50800" bIns="50800" rtlCol="0" anchor="ctr"/>
            <a:lstStyle/>
            <a:p>
              <a:pPr marL="0" lvl="0" indent="0" algn="ctr">
                <a:lnSpc>
                  <a:spcPts val="3499"/>
                </a:lnSpc>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92C">
                <a:alpha val="100000"/>
              </a:srgbClr>
            </a:gs>
            <a:gs pos="100000">
              <a:srgbClr val="00000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flipH="1" flipV="1">
            <a:off x="11707249" y="-850912"/>
            <a:ext cx="10590603" cy="10109212"/>
          </a:xfrm>
          <a:custGeom>
            <a:avLst/>
            <a:gdLst/>
            <a:ahLst/>
            <a:cxnLst/>
            <a:rect l="l" t="t" r="r" b="b"/>
            <a:pathLst>
              <a:path w="10590603" h="10109212">
                <a:moveTo>
                  <a:pt x="10590603" y="10109212"/>
                </a:moveTo>
                <a:lnTo>
                  <a:pt x="0" y="10109212"/>
                </a:lnTo>
                <a:lnTo>
                  <a:pt x="0" y="0"/>
                </a:lnTo>
                <a:lnTo>
                  <a:pt x="10590603" y="0"/>
                </a:lnTo>
                <a:lnTo>
                  <a:pt x="10590603" y="10109212"/>
                </a:lnTo>
                <a:close/>
              </a:path>
            </a:pathLst>
          </a:custGeom>
          <a:blipFill>
            <a:blip>
              <a:alphaModFix amt="2000"/>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1707249" y="2661591"/>
            <a:ext cx="5552051" cy="6596709"/>
            <a:chOff x="0" y="0"/>
            <a:chExt cx="860158" cy="1022003"/>
          </a:xfrm>
        </p:grpSpPr>
        <p:sp>
          <p:nvSpPr>
            <p:cNvPr id="4" name="Freeform 4"/>
            <p:cNvSpPr/>
            <p:nvPr/>
          </p:nvSpPr>
          <p:spPr>
            <a:xfrm>
              <a:off x="0" y="0"/>
              <a:ext cx="860158" cy="1022003"/>
            </a:xfrm>
            <a:custGeom>
              <a:avLst/>
              <a:gdLst/>
              <a:ahLst/>
              <a:cxnLst/>
              <a:rect l="l" t="t" r="r" b="b"/>
              <a:pathLst>
                <a:path w="860158" h="1022003">
                  <a:moveTo>
                    <a:pt x="430079" y="0"/>
                  </a:moveTo>
                  <a:lnTo>
                    <a:pt x="860158" y="203200"/>
                  </a:lnTo>
                  <a:lnTo>
                    <a:pt x="860158" y="818803"/>
                  </a:lnTo>
                  <a:lnTo>
                    <a:pt x="430079" y="1022003"/>
                  </a:lnTo>
                  <a:lnTo>
                    <a:pt x="0" y="818803"/>
                  </a:lnTo>
                  <a:lnTo>
                    <a:pt x="0" y="203200"/>
                  </a:lnTo>
                  <a:lnTo>
                    <a:pt x="430079" y="0"/>
                  </a:lnTo>
                  <a:close/>
                </a:path>
              </a:pathLst>
            </a:custGeom>
            <a:blipFill>
              <a:blip r:embed="rId3"/>
              <a:stretch>
                <a:fillRect l="-51" r="-51"/>
              </a:stretch>
            </a:blipFill>
            <a:ln w="38100" cap="sq">
              <a:solidFill>
                <a:srgbClr val="FFFFFF"/>
              </a:solidFill>
              <a:prstDash val="solid"/>
              <a:miter/>
            </a:ln>
          </p:spPr>
        </p:sp>
      </p:grpSp>
      <p:sp>
        <p:nvSpPr>
          <p:cNvPr id="5" name="Freeform 5"/>
          <p:cNvSpPr/>
          <p:nvPr/>
        </p:nvSpPr>
        <p:spPr>
          <a:xfrm>
            <a:off x="-4009852" y="1028700"/>
            <a:ext cx="10590603" cy="10109212"/>
          </a:xfrm>
          <a:custGeom>
            <a:avLst/>
            <a:gdLst/>
            <a:ahLst/>
            <a:cxnLst/>
            <a:rect l="l" t="t" r="r" b="b"/>
            <a:pathLst>
              <a:path w="10590603" h="10109212">
                <a:moveTo>
                  <a:pt x="0" y="0"/>
                </a:moveTo>
                <a:lnTo>
                  <a:pt x="10590603" y="0"/>
                </a:lnTo>
                <a:lnTo>
                  <a:pt x="10590603" y="10109212"/>
                </a:lnTo>
                <a:lnTo>
                  <a:pt x="0" y="10109212"/>
                </a:lnTo>
                <a:lnTo>
                  <a:pt x="0" y="0"/>
                </a:lnTo>
                <a:close/>
              </a:path>
            </a:pathLst>
          </a:custGeom>
          <a:blipFill>
            <a:blip>
              <a:alphaModFix amt="2000"/>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16560686" y="1028700"/>
            <a:ext cx="698614" cy="812932"/>
            <a:chOff x="0" y="0"/>
            <a:chExt cx="698500" cy="812800"/>
          </a:xfrm>
        </p:grpSpPr>
        <p:sp>
          <p:nvSpPr>
            <p:cNvPr id="7" name="Freeform 7"/>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28575" cap="sq">
              <a:solidFill>
                <a:srgbClr val="FFFFFF"/>
              </a:solidFill>
              <a:prstDash val="solid"/>
              <a:miter/>
            </a:ln>
          </p:spPr>
        </p:sp>
        <p:sp>
          <p:nvSpPr>
            <p:cNvPr id="8" name="TextBox 8"/>
            <p:cNvSpPr txBox="1"/>
            <p:nvPr/>
          </p:nvSpPr>
          <p:spPr>
            <a:xfrm>
              <a:off x="0" y="73025"/>
              <a:ext cx="698500" cy="600075"/>
            </a:xfrm>
            <a:prstGeom prst="rect">
              <a:avLst/>
            </a:prstGeom>
          </p:spPr>
          <p:txBody>
            <a:bodyPr lIns="50800" tIns="50800" rIns="50800" bIns="50800" rtlCol="0" anchor="ctr"/>
            <a:lstStyle/>
            <a:p>
              <a:pPr marL="0" lvl="0" indent="0" algn="ctr">
                <a:lnSpc>
                  <a:spcPts val="3499"/>
                </a:lnSpc>
              </a:pPr>
              <a:endParaRPr/>
            </a:p>
          </p:txBody>
        </p:sp>
      </p:grpSp>
      <p:grpSp>
        <p:nvGrpSpPr>
          <p:cNvPr id="9" name="Group 9"/>
          <p:cNvGrpSpPr/>
          <p:nvPr/>
        </p:nvGrpSpPr>
        <p:grpSpPr>
          <a:xfrm>
            <a:off x="16646802" y="8545575"/>
            <a:ext cx="612498" cy="712725"/>
            <a:chOff x="0" y="0"/>
            <a:chExt cx="698500" cy="812800"/>
          </a:xfrm>
        </p:grpSpPr>
        <p:sp>
          <p:nvSpPr>
            <p:cNvPr id="10" name="Freeform 10"/>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28575" cap="sq">
              <a:solidFill>
                <a:srgbClr val="FFFFFF"/>
              </a:solidFill>
              <a:prstDash val="solid"/>
              <a:miter/>
            </a:ln>
          </p:spPr>
        </p:sp>
        <p:sp>
          <p:nvSpPr>
            <p:cNvPr id="11" name="TextBox 11"/>
            <p:cNvSpPr txBox="1"/>
            <p:nvPr/>
          </p:nvSpPr>
          <p:spPr>
            <a:xfrm>
              <a:off x="0" y="73025"/>
              <a:ext cx="698500" cy="600075"/>
            </a:xfrm>
            <a:prstGeom prst="rect">
              <a:avLst/>
            </a:prstGeom>
          </p:spPr>
          <p:txBody>
            <a:bodyPr lIns="50800" tIns="50800" rIns="50800" bIns="50800" rtlCol="0" anchor="ctr"/>
            <a:lstStyle/>
            <a:p>
              <a:pPr marL="0" lvl="0" indent="0" algn="ctr">
                <a:lnSpc>
                  <a:spcPts val="3499"/>
                </a:lnSpc>
              </a:pPr>
              <a:endParaRPr/>
            </a:p>
          </p:txBody>
        </p:sp>
      </p:grpSp>
      <p:grpSp>
        <p:nvGrpSpPr>
          <p:cNvPr id="12" name="Group 12"/>
          <p:cNvGrpSpPr/>
          <p:nvPr/>
        </p:nvGrpSpPr>
        <p:grpSpPr>
          <a:xfrm>
            <a:off x="11707249" y="1028700"/>
            <a:ext cx="1654661" cy="1925424"/>
            <a:chOff x="0" y="0"/>
            <a:chExt cx="698500" cy="812800"/>
          </a:xfrm>
        </p:grpSpPr>
        <p:sp>
          <p:nvSpPr>
            <p:cNvPr id="13" name="Freeform 13"/>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28575" cap="sq">
              <a:solidFill>
                <a:srgbClr val="FFFFFF"/>
              </a:solidFill>
              <a:prstDash val="solid"/>
              <a:miter/>
            </a:ln>
          </p:spPr>
        </p:sp>
        <p:sp>
          <p:nvSpPr>
            <p:cNvPr id="14" name="TextBox 14"/>
            <p:cNvSpPr txBox="1"/>
            <p:nvPr/>
          </p:nvSpPr>
          <p:spPr>
            <a:xfrm>
              <a:off x="0" y="73025"/>
              <a:ext cx="698500" cy="600075"/>
            </a:xfrm>
            <a:prstGeom prst="rect">
              <a:avLst/>
            </a:prstGeom>
          </p:spPr>
          <p:txBody>
            <a:bodyPr lIns="50800" tIns="50800" rIns="50800" bIns="50800" rtlCol="0" anchor="ctr"/>
            <a:lstStyle/>
            <a:p>
              <a:pPr marL="0" lvl="0" indent="0" algn="ctr">
                <a:lnSpc>
                  <a:spcPts val="3499"/>
                </a:lnSpc>
              </a:pPr>
              <a:endParaRPr/>
            </a:p>
          </p:txBody>
        </p:sp>
      </p:grpSp>
      <p:sp>
        <p:nvSpPr>
          <p:cNvPr id="15" name="Freeform 15"/>
          <p:cNvSpPr/>
          <p:nvPr/>
        </p:nvSpPr>
        <p:spPr>
          <a:xfrm>
            <a:off x="16747571" y="1286550"/>
            <a:ext cx="324844" cy="297232"/>
          </a:xfrm>
          <a:custGeom>
            <a:avLst/>
            <a:gdLst/>
            <a:ahLst/>
            <a:cxnLst/>
            <a:rect l="l" t="t" r="r" b="b"/>
            <a:pathLst>
              <a:path w="324844" h="297232">
                <a:moveTo>
                  <a:pt x="0" y="0"/>
                </a:moveTo>
                <a:lnTo>
                  <a:pt x="324844" y="0"/>
                </a:lnTo>
                <a:lnTo>
                  <a:pt x="324844" y="297232"/>
                </a:lnTo>
                <a:lnTo>
                  <a:pt x="0" y="29723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6" name="TextBox 16"/>
          <p:cNvSpPr txBox="1"/>
          <p:nvPr/>
        </p:nvSpPr>
        <p:spPr>
          <a:xfrm>
            <a:off x="1028700" y="923925"/>
            <a:ext cx="8241522" cy="870966"/>
          </a:xfrm>
          <a:prstGeom prst="rect">
            <a:avLst/>
          </a:prstGeom>
        </p:spPr>
        <p:txBody>
          <a:bodyPr lIns="0" tIns="0" rIns="0" bIns="0" rtlCol="0" anchor="t">
            <a:spAutoFit/>
          </a:bodyPr>
          <a:lstStyle/>
          <a:p>
            <a:pPr marL="0" lvl="0" indent="0" algn="l">
              <a:lnSpc>
                <a:spcPts val="7118"/>
              </a:lnSpc>
              <a:spcBef>
                <a:spcPct val="0"/>
              </a:spcBef>
            </a:pPr>
            <a:r>
              <a:rPr lang="en-US" sz="5084" b="1">
                <a:gradFill>
                  <a:gsLst>
                    <a:gs pos="0">
                      <a:srgbClr val="51DACF">
                        <a:alpha val="100000"/>
                      </a:srgbClr>
                    </a:gs>
                    <a:gs pos="100000">
                      <a:srgbClr val="FFFFFF">
                        <a:alpha val="100000"/>
                      </a:srgbClr>
                    </a:gs>
                  </a:gsLst>
                  <a:lin ang="2700000"/>
                </a:gradFill>
                <a:latin typeface="HK Modular"/>
                <a:ea typeface="HK Modular"/>
                <a:cs typeface="HK Modular"/>
                <a:sym typeface="HK Modular"/>
              </a:rPr>
              <a:t>MINEGUARD NEXUS</a:t>
            </a:r>
          </a:p>
        </p:txBody>
      </p:sp>
      <p:sp>
        <p:nvSpPr>
          <p:cNvPr id="17" name="TextBox 17"/>
          <p:cNvSpPr txBox="1"/>
          <p:nvPr/>
        </p:nvSpPr>
        <p:spPr>
          <a:xfrm>
            <a:off x="1028700" y="2604441"/>
            <a:ext cx="9749202" cy="1416086"/>
          </a:xfrm>
          <a:prstGeom prst="rect">
            <a:avLst/>
          </a:prstGeom>
        </p:spPr>
        <p:txBody>
          <a:bodyPr lIns="0" tIns="0" rIns="0" bIns="0" rtlCol="0" anchor="t">
            <a:spAutoFit/>
          </a:bodyPr>
          <a:lstStyle/>
          <a:p>
            <a:pPr marL="0" lvl="0" indent="0" algn="just">
              <a:lnSpc>
                <a:spcPts val="2798"/>
              </a:lnSpc>
              <a:spcBef>
                <a:spcPct val="0"/>
              </a:spcBef>
            </a:pPr>
            <a:r>
              <a:rPr lang="en-US" sz="1998">
                <a:solidFill>
                  <a:srgbClr val="FFFFFF"/>
                </a:solidFill>
                <a:latin typeface="Poppins"/>
                <a:ea typeface="Poppins"/>
                <a:cs typeface="Poppins"/>
                <a:sym typeface="Poppins"/>
              </a:rPr>
              <a:t>MineGuard Nexus is an AI-powered smart governance and compliance monitoring platform purpose-built for modern coal mining operations. It unifies all critical operational signals — inspections, safety records, statutory compliance, and environmental data — into a single intelligent system.</a:t>
            </a:r>
          </a:p>
        </p:txBody>
      </p:sp>
      <p:sp>
        <p:nvSpPr>
          <p:cNvPr id="18" name="TextBox 18"/>
          <p:cNvSpPr txBox="1"/>
          <p:nvPr/>
        </p:nvSpPr>
        <p:spPr>
          <a:xfrm>
            <a:off x="1028700" y="7489990"/>
            <a:ext cx="9749202" cy="1416086"/>
          </a:xfrm>
          <a:prstGeom prst="rect">
            <a:avLst/>
          </a:prstGeom>
        </p:spPr>
        <p:txBody>
          <a:bodyPr lIns="0" tIns="0" rIns="0" bIns="0" rtlCol="0" anchor="t">
            <a:spAutoFit/>
          </a:bodyPr>
          <a:lstStyle/>
          <a:p>
            <a:pPr marL="0" lvl="0" indent="0" algn="just">
              <a:lnSpc>
                <a:spcPts val="2798"/>
              </a:lnSpc>
              <a:spcBef>
                <a:spcPct val="0"/>
              </a:spcBef>
            </a:pPr>
            <a:r>
              <a:rPr lang="en-US" sz="1998">
                <a:solidFill>
                  <a:srgbClr val="FFFFFF"/>
                </a:solidFill>
                <a:latin typeface="Poppins"/>
                <a:ea typeface="Poppins"/>
                <a:cs typeface="Poppins"/>
                <a:sym typeface="Poppins"/>
              </a:rPr>
              <a:t>By bringing together inspections, corrective actions, equipment maintenance, contractor performance, production data, and environmental conditions, MineGuard Nexus empowers decision-makers to predict risks, simulate scenarios, and prevent compliance failures before they occur.</a:t>
            </a:r>
          </a:p>
        </p:txBody>
      </p:sp>
      <p:sp>
        <p:nvSpPr>
          <p:cNvPr id="19" name="TextBox 19"/>
          <p:cNvSpPr txBox="1"/>
          <p:nvPr/>
        </p:nvSpPr>
        <p:spPr>
          <a:xfrm>
            <a:off x="1028700" y="5047216"/>
            <a:ext cx="9749202" cy="1768511"/>
          </a:xfrm>
          <a:prstGeom prst="rect">
            <a:avLst/>
          </a:prstGeom>
        </p:spPr>
        <p:txBody>
          <a:bodyPr lIns="0" tIns="0" rIns="0" bIns="0" rtlCol="0" anchor="t">
            <a:spAutoFit/>
          </a:bodyPr>
          <a:lstStyle/>
          <a:p>
            <a:pPr marL="0" lvl="0" indent="0" algn="just">
              <a:lnSpc>
                <a:spcPts val="2798"/>
              </a:lnSpc>
              <a:spcBef>
                <a:spcPct val="0"/>
              </a:spcBef>
            </a:pPr>
            <a:r>
              <a:rPr lang="en-US" sz="1998">
                <a:solidFill>
                  <a:srgbClr val="FFFFFF"/>
                </a:solidFill>
                <a:latin typeface="Poppins"/>
                <a:ea typeface="Poppins"/>
                <a:cs typeface="Poppins"/>
                <a:sym typeface="Poppins"/>
              </a:rPr>
              <a:t>Mining governance today is fragmented across disparate systems and documents, making it difficult for management to identify emerging risks early. MineGuard Nexus eliminates these silos by consolidating every governance signal into one unified, AI-driven platform that delivers real-time situational awareness.</a:t>
            </a:r>
          </a:p>
        </p:txBody>
      </p:sp>
      <p:sp>
        <p:nvSpPr>
          <p:cNvPr id="20" name="TextBox 20"/>
          <p:cNvSpPr txBox="1"/>
          <p:nvPr/>
        </p:nvSpPr>
        <p:spPr>
          <a:xfrm>
            <a:off x="15446772" y="962025"/>
            <a:ext cx="781325" cy="879520"/>
          </a:xfrm>
          <a:prstGeom prst="rect">
            <a:avLst/>
          </a:prstGeom>
        </p:spPr>
        <p:txBody>
          <a:bodyPr lIns="0" tIns="0" rIns="0" bIns="0" rtlCol="0" anchor="t">
            <a:spAutoFit/>
          </a:bodyPr>
          <a:lstStyle/>
          <a:p>
            <a:pPr marL="0" lvl="0" indent="0" algn="l">
              <a:lnSpc>
                <a:spcPts val="3497"/>
              </a:lnSpc>
              <a:spcBef>
                <a:spcPct val="0"/>
              </a:spcBef>
            </a:pPr>
            <a:r>
              <a:rPr lang="en-US" sz="2498">
                <a:solidFill>
                  <a:srgbClr val="FFFFFF"/>
                </a:solidFill>
                <a:latin typeface="Poppins"/>
                <a:ea typeface="Poppins"/>
                <a:cs typeface="Poppins"/>
                <a:sym typeface="Poppins"/>
              </a:rPr>
              <a:t>Next Slide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92C">
                <a:alpha val="100000"/>
              </a:srgbClr>
            </a:gs>
            <a:gs pos="100000">
              <a:srgbClr val="00000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009852" y="1028700"/>
            <a:ext cx="10590603" cy="10109212"/>
          </a:xfrm>
          <a:custGeom>
            <a:avLst/>
            <a:gdLst/>
            <a:ahLst/>
            <a:cxnLst/>
            <a:rect l="l" t="t" r="r" b="b"/>
            <a:pathLst>
              <a:path w="10590603" h="10109212">
                <a:moveTo>
                  <a:pt x="0" y="0"/>
                </a:moveTo>
                <a:lnTo>
                  <a:pt x="10590603" y="0"/>
                </a:lnTo>
                <a:lnTo>
                  <a:pt x="10590603" y="10109212"/>
                </a:lnTo>
                <a:lnTo>
                  <a:pt x="0" y="10109212"/>
                </a:lnTo>
                <a:lnTo>
                  <a:pt x="0" y="0"/>
                </a:lnTo>
                <a:close/>
              </a:path>
            </a:pathLst>
          </a:custGeom>
          <a:blipFill>
            <a:blip>
              <a:alphaModFix amt="2000"/>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1707249" y="-850912"/>
            <a:ext cx="10590603" cy="10109212"/>
          </a:xfrm>
          <a:custGeom>
            <a:avLst/>
            <a:gdLst/>
            <a:ahLst/>
            <a:cxnLst/>
            <a:rect l="l" t="t" r="r" b="b"/>
            <a:pathLst>
              <a:path w="10590603" h="10109212">
                <a:moveTo>
                  <a:pt x="10590603" y="10109212"/>
                </a:moveTo>
                <a:lnTo>
                  <a:pt x="0" y="10109212"/>
                </a:lnTo>
                <a:lnTo>
                  <a:pt x="0" y="0"/>
                </a:lnTo>
                <a:lnTo>
                  <a:pt x="10590603" y="0"/>
                </a:lnTo>
                <a:lnTo>
                  <a:pt x="10590603" y="10109212"/>
                </a:lnTo>
                <a:close/>
              </a:path>
            </a:pathLst>
          </a:custGeom>
          <a:blipFill>
            <a:blip>
              <a:alphaModFix amt="2000"/>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1028700" y="895350"/>
            <a:ext cx="11489422" cy="2114550"/>
          </a:xfrm>
          <a:prstGeom prst="rect">
            <a:avLst/>
          </a:prstGeom>
        </p:spPr>
        <p:txBody>
          <a:bodyPr lIns="0" tIns="0" rIns="0" bIns="0" rtlCol="0" anchor="t">
            <a:spAutoFit/>
          </a:bodyPr>
          <a:lstStyle/>
          <a:p>
            <a:pPr marL="0" lvl="0" indent="0" algn="l">
              <a:lnSpc>
                <a:spcPts val="8400"/>
              </a:lnSpc>
              <a:spcBef>
                <a:spcPct val="0"/>
              </a:spcBef>
            </a:pPr>
            <a:r>
              <a:rPr lang="en-US" sz="6000" b="1">
                <a:gradFill>
                  <a:gsLst>
                    <a:gs pos="0">
                      <a:srgbClr val="51DACF">
                        <a:alpha val="100000"/>
                      </a:srgbClr>
                    </a:gs>
                    <a:gs pos="100000">
                      <a:srgbClr val="FFFFFF">
                        <a:alpha val="100000"/>
                      </a:srgbClr>
                    </a:gs>
                  </a:gsLst>
                  <a:lin ang="2700000"/>
                </a:gradFill>
                <a:latin typeface="HK Modular"/>
                <a:ea typeface="HK Modular"/>
                <a:cs typeface="HK Modular"/>
                <a:sym typeface="HK Modular"/>
              </a:rPr>
              <a:t>CORE CAPABILITIES OF MINEGUARD NEXUS</a:t>
            </a:r>
          </a:p>
        </p:txBody>
      </p:sp>
      <p:sp>
        <p:nvSpPr>
          <p:cNvPr id="5" name="TextBox 5"/>
          <p:cNvSpPr txBox="1"/>
          <p:nvPr/>
        </p:nvSpPr>
        <p:spPr>
          <a:xfrm>
            <a:off x="1028700" y="4648338"/>
            <a:ext cx="7801049" cy="1112397"/>
          </a:xfrm>
          <a:prstGeom prst="rect">
            <a:avLst/>
          </a:prstGeom>
        </p:spPr>
        <p:txBody>
          <a:bodyPr lIns="0" tIns="0" rIns="0" bIns="0" rtlCol="0" anchor="t">
            <a:spAutoFit/>
          </a:bodyPr>
          <a:lstStyle/>
          <a:p>
            <a:pPr marL="0" lvl="0" indent="0" algn="just">
              <a:lnSpc>
                <a:spcPts val="2211"/>
              </a:lnSpc>
              <a:spcBef>
                <a:spcPct val="0"/>
              </a:spcBef>
            </a:pPr>
            <a:r>
              <a:rPr lang="en-US" sz="1579">
                <a:solidFill>
                  <a:srgbClr val="FFFFFF"/>
                </a:solidFill>
                <a:latin typeface="Poppins"/>
                <a:ea typeface="Poppins"/>
                <a:cs typeface="Poppins"/>
                <a:sym typeface="Poppins"/>
              </a:rPr>
              <a:t>MineGuard Nexus is built on three foundational pillars that work in concert to deliver end-to-end governance intelligence. From early risk detection to scenario modeling and proactive compliance enforcement, each capability strengthens mining oversight at every level.</a:t>
            </a:r>
          </a:p>
        </p:txBody>
      </p:sp>
      <p:sp>
        <p:nvSpPr>
          <p:cNvPr id="6" name="TextBox 6"/>
          <p:cNvSpPr txBox="1"/>
          <p:nvPr/>
        </p:nvSpPr>
        <p:spPr>
          <a:xfrm>
            <a:off x="1028700" y="7451890"/>
            <a:ext cx="1105964" cy="771604"/>
          </a:xfrm>
          <a:prstGeom prst="rect">
            <a:avLst/>
          </a:prstGeom>
        </p:spPr>
        <p:txBody>
          <a:bodyPr lIns="0" tIns="0" rIns="0" bIns="0" rtlCol="0" anchor="t">
            <a:spAutoFit/>
          </a:bodyPr>
          <a:lstStyle/>
          <a:p>
            <a:pPr marL="0" lvl="0" indent="0" algn="l">
              <a:lnSpc>
                <a:spcPts val="6295"/>
              </a:lnSpc>
              <a:spcBef>
                <a:spcPct val="0"/>
              </a:spcBef>
            </a:pPr>
            <a:r>
              <a:rPr lang="en-US" sz="4496" b="1">
                <a:gradFill>
                  <a:gsLst>
                    <a:gs pos="0">
                      <a:srgbClr val="51DACF">
                        <a:alpha val="100000"/>
                      </a:srgbClr>
                    </a:gs>
                    <a:gs pos="100000">
                      <a:srgbClr val="FFFFFF">
                        <a:alpha val="100000"/>
                      </a:srgbClr>
                    </a:gs>
                  </a:gsLst>
                  <a:lin ang="2700000"/>
                </a:gradFill>
                <a:latin typeface="HK Modular"/>
                <a:ea typeface="HK Modular"/>
                <a:cs typeface="HK Modular"/>
                <a:sym typeface="HK Modular"/>
              </a:rPr>
              <a:t>01</a:t>
            </a:r>
          </a:p>
        </p:txBody>
      </p:sp>
      <p:sp>
        <p:nvSpPr>
          <p:cNvPr id="7" name="TextBox 7"/>
          <p:cNvSpPr txBox="1"/>
          <p:nvPr/>
        </p:nvSpPr>
        <p:spPr>
          <a:xfrm>
            <a:off x="2471177" y="8223349"/>
            <a:ext cx="3535464" cy="1091847"/>
          </a:xfrm>
          <a:prstGeom prst="rect">
            <a:avLst/>
          </a:prstGeom>
        </p:spPr>
        <p:txBody>
          <a:bodyPr lIns="0" tIns="0" rIns="0" bIns="0" rtlCol="0" anchor="t">
            <a:spAutoFit/>
          </a:bodyPr>
          <a:lstStyle/>
          <a:p>
            <a:pPr marL="0" lvl="0" indent="0" algn="just">
              <a:lnSpc>
                <a:spcPts val="1769"/>
              </a:lnSpc>
              <a:spcBef>
                <a:spcPct val="0"/>
              </a:spcBef>
            </a:pPr>
            <a:r>
              <a:rPr lang="en-US" sz="1263">
                <a:solidFill>
                  <a:srgbClr val="FFFFFF"/>
                </a:solidFill>
                <a:latin typeface="Poppins"/>
                <a:ea typeface="Poppins"/>
                <a:cs typeface="Poppins"/>
                <a:sym typeface="Poppins"/>
              </a:rPr>
              <a:t>AI-driven risk forecasting that analyzes inspection records, equipment telemetry, and compliance history to surface emerging governance risks before they escalate.</a:t>
            </a:r>
          </a:p>
        </p:txBody>
      </p:sp>
      <p:sp>
        <p:nvSpPr>
          <p:cNvPr id="8" name="TextBox 8"/>
          <p:cNvSpPr txBox="1"/>
          <p:nvPr/>
        </p:nvSpPr>
        <p:spPr>
          <a:xfrm>
            <a:off x="2471177" y="7518565"/>
            <a:ext cx="3535464" cy="232591"/>
          </a:xfrm>
          <a:prstGeom prst="rect">
            <a:avLst/>
          </a:prstGeom>
        </p:spPr>
        <p:txBody>
          <a:bodyPr lIns="0" tIns="0" rIns="0" bIns="0" rtlCol="0" anchor="t">
            <a:spAutoFit/>
          </a:bodyPr>
          <a:lstStyle/>
          <a:p>
            <a:pPr marL="0" lvl="0" indent="0" algn="just">
              <a:lnSpc>
                <a:spcPts val="1880"/>
              </a:lnSpc>
              <a:spcBef>
                <a:spcPct val="0"/>
              </a:spcBef>
            </a:pPr>
            <a:r>
              <a:rPr lang="en-US" sz="1342" b="1">
                <a:gradFill>
                  <a:gsLst>
                    <a:gs pos="0">
                      <a:srgbClr val="51DACF">
                        <a:alpha val="100000"/>
                      </a:srgbClr>
                    </a:gs>
                    <a:gs pos="100000">
                      <a:srgbClr val="FFFFFF">
                        <a:alpha val="100000"/>
                      </a:srgbClr>
                    </a:gs>
                  </a:gsLst>
                  <a:lin ang="2700000"/>
                </a:gradFill>
                <a:latin typeface="HK Modular"/>
                <a:ea typeface="HK Modular"/>
                <a:cs typeface="HK Modular"/>
                <a:sym typeface="HK Modular"/>
              </a:rPr>
              <a:t>Predict</a:t>
            </a:r>
          </a:p>
        </p:txBody>
      </p:sp>
      <p:sp>
        <p:nvSpPr>
          <p:cNvPr id="9" name="TextBox 9"/>
          <p:cNvSpPr txBox="1"/>
          <p:nvPr/>
        </p:nvSpPr>
        <p:spPr>
          <a:xfrm>
            <a:off x="12281358" y="7451890"/>
            <a:ext cx="1105964" cy="771604"/>
          </a:xfrm>
          <a:prstGeom prst="rect">
            <a:avLst/>
          </a:prstGeom>
        </p:spPr>
        <p:txBody>
          <a:bodyPr lIns="0" tIns="0" rIns="0" bIns="0" rtlCol="0" anchor="t">
            <a:spAutoFit/>
          </a:bodyPr>
          <a:lstStyle/>
          <a:p>
            <a:pPr marL="0" lvl="0" indent="0" algn="l">
              <a:lnSpc>
                <a:spcPts val="6295"/>
              </a:lnSpc>
              <a:spcBef>
                <a:spcPct val="0"/>
              </a:spcBef>
            </a:pPr>
            <a:r>
              <a:rPr lang="en-US" sz="4496" b="1">
                <a:gradFill>
                  <a:gsLst>
                    <a:gs pos="0">
                      <a:srgbClr val="51DACF">
                        <a:alpha val="100000"/>
                      </a:srgbClr>
                    </a:gs>
                    <a:gs pos="100000">
                      <a:srgbClr val="FFFFFF">
                        <a:alpha val="100000"/>
                      </a:srgbClr>
                    </a:gs>
                  </a:gsLst>
                  <a:lin ang="2700000"/>
                </a:gradFill>
                <a:latin typeface="HK Modular"/>
                <a:ea typeface="HK Modular"/>
                <a:cs typeface="HK Modular"/>
                <a:sym typeface="HK Modular"/>
              </a:rPr>
              <a:t>03</a:t>
            </a:r>
          </a:p>
        </p:txBody>
      </p:sp>
      <p:sp>
        <p:nvSpPr>
          <p:cNvPr id="10" name="TextBox 10"/>
          <p:cNvSpPr txBox="1"/>
          <p:nvPr/>
        </p:nvSpPr>
        <p:spPr>
          <a:xfrm>
            <a:off x="13723836" y="8223349"/>
            <a:ext cx="3535464" cy="1091848"/>
          </a:xfrm>
          <a:prstGeom prst="rect">
            <a:avLst/>
          </a:prstGeom>
        </p:spPr>
        <p:txBody>
          <a:bodyPr lIns="0" tIns="0" rIns="0" bIns="0" rtlCol="0" anchor="t">
            <a:spAutoFit/>
          </a:bodyPr>
          <a:lstStyle/>
          <a:p>
            <a:pPr marL="0" lvl="0" indent="0" algn="just">
              <a:lnSpc>
                <a:spcPts val="1769"/>
              </a:lnSpc>
              <a:spcBef>
                <a:spcPct val="0"/>
              </a:spcBef>
            </a:pPr>
            <a:r>
              <a:rPr lang="en-US" sz="1263">
                <a:solidFill>
                  <a:srgbClr val="FFFFFF"/>
                </a:solidFill>
                <a:latin typeface="Poppins"/>
                <a:ea typeface="Poppins"/>
                <a:cs typeface="Poppins"/>
                <a:sym typeface="Poppins"/>
              </a:rPr>
              <a:t>Proactive compliance monitoring that auto-triggers corrective workflows, flags statutory violations, and ensures continuous adherence to coal mine safety regulations.</a:t>
            </a:r>
          </a:p>
        </p:txBody>
      </p:sp>
      <p:sp>
        <p:nvSpPr>
          <p:cNvPr id="11" name="TextBox 11"/>
          <p:cNvSpPr txBox="1"/>
          <p:nvPr/>
        </p:nvSpPr>
        <p:spPr>
          <a:xfrm>
            <a:off x="13723836" y="7518565"/>
            <a:ext cx="3278715" cy="232591"/>
          </a:xfrm>
          <a:prstGeom prst="rect">
            <a:avLst/>
          </a:prstGeom>
        </p:spPr>
        <p:txBody>
          <a:bodyPr lIns="0" tIns="0" rIns="0" bIns="0" rtlCol="0" anchor="t">
            <a:spAutoFit/>
          </a:bodyPr>
          <a:lstStyle/>
          <a:p>
            <a:pPr marL="0" lvl="0" indent="0" algn="just">
              <a:lnSpc>
                <a:spcPts val="1880"/>
              </a:lnSpc>
              <a:spcBef>
                <a:spcPct val="0"/>
              </a:spcBef>
            </a:pPr>
            <a:r>
              <a:rPr lang="en-US" sz="1342" b="1">
                <a:gradFill>
                  <a:gsLst>
                    <a:gs pos="0">
                      <a:srgbClr val="51DACF">
                        <a:alpha val="100000"/>
                      </a:srgbClr>
                    </a:gs>
                    <a:gs pos="100000">
                      <a:srgbClr val="FFFFFF">
                        <a:alpha val="100000"/>
                      </a:srgbClr>
                    </a:gs>
                  </a:gsLst>
                  <a:lin ang="2700000"/>
                </a:gradFill>
                <a:latin typeface="HK Modular"/>
                <a:ea typeface="HK Modular"/>
                <a:cs typeface="HK Modular"/>
                <a:sym typeface="HK Modular"/>
              </a:rPr>
              <a:t>Prevent</a:t>
            </a:r>
          </a:p>
        </p:txBody>
      </p:sp>
      <p:sp>
        <p:nvSpPr>
          <p:cNvPr id="12" name="TextBox 12"/>
          <p:cNvSpPr txBox="1"/>
          <p:nvPr/>
        </p:nvSpPr>
        <p:spPr>
          <a:xfrm>
            <a:off x="6655029" y="7451890"/>
            <a:ext cx="1105964" cy="771604"/>
          </a:xfrm>
          <a:prstGeom prst="rect">
            <a:avLst/>
          </a:prstGeom>
        </p:spPr>
        <p:txBody>
          <a:bodyPr lIns="0" tIns="0" rIns="0" bIns="0" rtlCol="0" anchor="t">
            <a:spAutoFit/>
          </a:bodyPr>
          <a:lstStyle/>
          <a:p>
            <a:pPr marL="0" lvl="0" indent="0" algn="l">
              <a:lnSpc>
                <a:spcPts val="6295"/>
              </a:lnSpc>
              <a:spcBef>
                <a:spcPct val="0"/>
              </a:spcBef>
            </a:pPr>
            <a:r>
              <a:rPr lang="en-US" sz="4496" b="1">
                <a:gradFill>
                  <a:gsLst>
                    <a:gs pos="0">
                      <a:srgbClr val="51DACF">
                        <a:alpha val="100000"/>
                      </a:srgbClr>
                    </a:gs>
                    <a:gs pos="100000">
                      <a:srgbClr val="FFFFFF">
                        <a:alpha val="100000"/>
                      </a:srgbClr>
                    </a:gs>
                  </a:gsLst>
                  <a:lin ang="2700000"/>
                </a:gradFill>
                <a:latin typeface="HK Modular"/>
                <a:ea typeface="HK Modular"/>
                <a:cs typeface="HK Modular"/>
                <a:sym typeface="HK Modular"/>
              </a:rPr>
              <a:t>02</a:t>
            </a:r>
          </a:p>
        </p:txBody>
      </p:sp>
      <p:sp>
        <p:nvSpPr>
          <p:cNvPr id="13" name="TextBox 13"/>
          <p:cNvSpPr txBox="1"/>
          <p:nvPr/>
        </p:nvSpPr>
        <p:spPr>
          <a:xfrm>
            <a:off x="8097506" y="8223349"/>
            <a:ext cx="3535464" cy="1091848"/>
          </a:xfrm>
          <a:prstGeom prst="rect">
            <a:avLst/>
          </a:prstGeom>
        </p:spPr>
        <p:txBody>
          <a:bodyPr lIns="0" tIns="0" rIns="0" bIns="0" rtlCol="0" anchor="t">
            <a:spAutoFit/>
          </a:bodyPr>
          <a:lstStyle/>
          <a:p>
            <a:pPr marL="0" lvl="0" indent="0" algn="just">
              <a:lnSpc>
                <a:spcPts val="1769"/>
              </a:lnSpc>
              <a:spcBef>
                <a:spcPct val="0"/>
              </a:spcBef>
            </a:pPr>
            <a:r>
              <a:rPr lang="en-US" sz="1263">
                <a:solidFill>
                  <a:srgbClr val="FFFFFF"/>
                </a:solidFill>
                <a:latin typeface="Poppins"/>
                <a:ea typeface="Poppins"/>
                <a:cs typeface="Poppins"/>
                <a:sym typeface="Poppins"/>
              </a:rPr>
              <a:t>Scenario modeling engine that simulates the impact of governance decisions, regulatory changes, and operational shifts — enabling smarter, evidence-based interventions.</a:t>
            </a:r>
          </a:p>
        </p:txBody>
      </p:sp>
      <p:sp>
        <p:nvSpPr>
          <p:cNvPr id="14" name="TextBox 14"/>
          <p:cNvSpPr txBox="1"/>
          <p:nvPr/>
        </p:nvSpPr>
        <p:spPr>
          <a:xfrm>
            <a:off x="8097506" y="7518565"/>
            <a:ext cx="2270169" cy="232591"/>
          </a:xfrm>
          <a:prstGeom prst="rect">
            <a:avLst/>
          </a:prstGeom>
        </p:spPr>
        <p:txBody>
          <a:bodyPr lIns="0" tIns="0" rIns="0" bIns="0" rtlCol="0" anchor="t">
            <a:spAutoFit/>
          </a:bodyPr>
          <a:lstStyle/>
          <a:p>
            <a:pPr marL="0" lvl="0" indent="0" algn="just">
              <a:lnSpc>
                <a:spcPts val="1880"/>
              </a:lnSpc>
              <a:spcBef>
                <a:spcPct val="0"/>
              </a:spcBef>
            </a:pPr>
            <a:r>
              <a:rPr lang="en-US" sz="1342" b="1">
                <a:gradFill>
                  <a:gsLst>
                    <a:gs pos="0">
                      <a:srgbClr val="51DACF">
                        <a:alpha val="100000"/>
                      </a:srgbClr>
                    </a:gs>
                    <a:gs pos="100000">
                      <a:srgbClr val="FFFFFF">
                        <a:alpha val="100000"/>
                      </a:srgbClr>
                    </a:gs>
                  </a:gsLst>
                  <a:lin ang="2700000"/>
                </a:gradFill>
                <a:latin typeface="HK Modular"/>
                <a:ea typeface="HK Modular"/>
                <a:cs typeface="HK Modular"/>
                <a:sym typeface="HK Modular"/>
              </a:rPr>
              <a:t>Simulate</a:t>
            </a:r>
          </a:p>
        </p:txBody>
      </p:sp>
      <p:sp>
        <p:nvSpPr>
          <p:cNvPr id="15" name="TextBox 15"/>
          <p:cNvSpPr txBox="1"/>
          <p:nvPr/>
        </p:nvSpPr>
        <p:spPr>
          <a:xfrm>
            <a:off x="9458251" y="4648338"/>
            <a:ext cx="7801049" cy="836172"/>
          </a:xfrm>
          <a:prstGeom prst="rect">
            <a:avLst/>
          </a:prstGeom>
        </p:spPr>
        <p:txBody>
          <a:bodyPr lIns="0" tIns="0" rIns="0" bIns="0" rtlCol="0" anchor="t">
            <a:spAutoFit/>
          </a:bodyPr>
          <a:lstStyle/>
          <a:p>
            <a:pPr marL="0" lvl="0" indent="0" algn="just">
              <a:lnSpc>
                <a:spcPts val="2211"/>
              </a:lnSpc>
              <a:spcBef>
                <a:spcPct val="0"/>
              </a:spcBef>
            </a:pPr>
            <a:r>
              <a:rPr lang="en-US" sz="1579">
                <a:solidFill>
                  <a:srgbClr val="FFFFFF"/>
                </a:solidFill>
                <a:latin typeface="Poppins"/>
                <a:ea typeface="Poppins"/>
                <a:cs typeface="Poppins"/>
                <a:sym typeface="Poppins"/>
              </a:rPr>
              <a:t>Together, these pillars form a unified intelligence loop — continuously learning from operational data, simulating governance outcomes, and triggering targeted interventions before violations escalate into critical incidents.</a:t>
            </a:r>
          </a:p>
        </p:txBody>
      </p:sp>
      <p:grpSp>
        <p:nvGrpSpPr>
          <p:cNvPr id="16" name="Group 16"/>
          <p:cNvGrpSpPr/>
          <p:nvPr/>
        </p:nvGrpSpPr>
        <p:grpSpPr>
          <a:xfrm>
            <a:off x="16560686" y="1028700"/>
            <a:ext cx="698614" cy="812932"/>
            <a:chOff x="0" y="0"/>
            <a:chExt cx="698500" cy="812800"/>
          </a:xfrm>
        </p:grpSpPr>
        <p:sp>
          <p:nvSpPr>
            <p:cNvPr id="17" name="Freeform 17"/>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28575" cap="sq">
              <a:solidFill>
                <a:srgbClr val="FFFFFF"/>
              </a:solidFill>
              <a:prstDash val="solid"/>
              <a:miter/>
            </a:ln>
          </p:spPr>
        </p:sp>
        <p:sp>
          <p:nvSpPr>
            <p:cNvPr id="18" name="TextBox 18"/>
            <p:cNvSpPr txBox="1"/>
            <p:nvPr/>
          </p:nvSpPr>
          <p:spPr>
            <a:xfrm>
              <a:off x="0" y="73025"/>
              <a:ext cx="698500" cy="600075"/>
            </a:xfrm>
            <a:prstGeom prst="rect">
              <a:avLst/>
            </a:prstGeom>
          </p:spPr>
          <p:txBody>
            <a:bodyPr lIns="50800" tIns="50800" rIns="50800" bIns="50800" rtlCol="0" anchor="ctr"/>
            <a:lstStyle/>
            <a:p>
              <a:pPr marL="0" lvl="0" indent="0" algn="ctr">
                <a:lnSpc>
                  <a:spcPts val="3499"/>
                </a:lnSpc>
              </a:pPr>
              <a:endParaRPr/>
            </a:p>
          </p:txBody>
        </p:sp>
      </p:grpSp>
      <p:grpSp>
        <p:nvGrpSpPr>
          <p:cNvPr id="19" name="Group 19"/>
          <p:cNvGrpSpPr/>
          <p:nvPr/>
        </p:nvGrpSpPr>
        <p:grpSpPr>
          <a:xfrm>
            <a:off x="13723836" y="2552650"/>
            <a:ext cx="1162509" cy="1352738"/>
            <a:chOff x="0" y="0"/>
            <a:chExt cx="698500" cy="812800"/>
          </a:xfrm>
        </p:grpSpPr>
        <p:sp>
          <p:nvSpPr>
            <p:cNvPr id="20" name="Freeform 20"/>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28575" cap="sq">
              <a:solidFill>
                <a:srgbClr val="FFFFFF"/>
              </a:solidFill>
              <a:prstDash val="solid"/>
              <a:miter/>
            </a:ln>
          </p:spPr>
        </p:sp>
        <p:sp>
          <p:nvSpPr>
            <p:cNvPr id="21" name="TextBox 21"/>
            <p:cNvSpPr txBox="1"/>
            <p:nvPr/>
          </p:nvSpPr>
          <p:spPr>
            <a:xfrm>
              <a:off x="0" y="73025"/>
              <a:ext cx="698500" cy="600075"/>
            </a:xfrm>
            <a:prstGeom prst="rect">
              <a:avLst/>
            </a:prstGeom>
          </p:spPr>
          <p:txBody>
            <a:bodyPr lIns="50800" tIns="50800" rIns="50800" bIns="50800" rtlCol="0" anchor="ctr"/>
            <a:lstStyle/>
            <a:p>
              <a:pPr marL="0" lvl="0" indent="0" algn="ctr">
                <a:lnSpc>
                  <a:spcPts val="3499"/>
                </a:lnSpc>
              </a:pPr>
              <a:endParaRPr/>
            </a:p>
          </p:txBody>
        </p:sp>
      </p:grpSp>
      <p:sp>
        <p:nvSpPr>
          <p:cNvPr id="22" name="Freeform 22"/>
          <p:cNvSpPr/>
          <p:nvPr/>
        </p:nvSpPr>
        <p:spPr>
          <a:xfrm>
            <a:off x="16747571" y="1286550"/>
            <a:ext cx="324844" cy="297232"/>
          </a:xfrm>
          <a:custGeom>
            <a:avLst/>
            <a:gdLst/>
            <a:ahLst/>
            <a:cxnLst/>
            <a:rect l="l" t="t" r="r" b="b"/>
            <a:pathLst>
              <a:path w="324844" h="297232">
                <a:moveTo>
                  <a:pt x="0" y="0"/>
                </a:moveTo>
                <a:lnTo>
                  <a:pt x="324844" y="0"/>
                </a:lnTo>
                <a:lnTo>
                  <a:pt x="324844" y="297232"/>
                </a:lnTo>
                <a:lnTo>
                  <a:pt x="0" y="29723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3" name="TextBox 23"/>
          <p:cNvSpPr txBox="1"/>
          <p:nvPr/>
        </p:nvSpPr>
        <p:spPr>
          <a:xfrm>
            <a:off x="15446772" y="962025"/>
            <a:ext cx="781325" cy="879520"/>
          </a:xfrm>
          <a:prstGeom prst="rect">
            <a:avLst/>
          </a:prstGeom>
        </p:spPr>
        <p:txBody>
          <a:bodyPr lIns="0" tIns="0" rIns="0" bIns="0" rtlCol="0" anchor="t">
            <a:spAutoFit/>
          </a:bodyPr>
          <a:lstStyle/>
          <a:p>
            <a:pPr marL="0" lvl="0" indent="0" algn="l">
              <a:lnSpc>
                <a:spcPts val="3497"/>
              </a:lnSpc>
              <a:spcBef>
                <a:spcPct val="0"/>
              </a:spcBef>
            </a:pPr>
            <a:r>
              <a:rPr lang="en-US" sz="2498">
                <a:solidFill>
                  <a:srgbClr val="FFFFFF"/>
                </a:solidFill>
                <a:latin typeface="Poppins"/>
                <a:ea typeface="Poppins"/>
                <a:cs typeface="Poppins"/>
                <a:sym typeface="Poppins"/>
              </a:rPr>
              <a:t>Next Slide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92C">
                <a:alpha val="100000"/>
              </a:srgbClr>
            </a:gs>
            <a:gs pos="100000">
              <a:srgbClr val="00000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009852" y="1028700"/>
            <a:ext cx="10590603" cy="10109212"/>
          </a:xfrm>
          <a:custGeom>
            <a:avLst/>
            <a:gdLst/>
            <a:ahLst/>
            <a:cxnLst/>
            <a:rect l="l" t="t" r="r" b="b"/>
            <a:pathLst>
              <a:path w="10590603" h="10109212">
                <a:moveTo>
                  <a:pt x="0" y="0"/>
                </a:moveTo>
                <a:lnTo>
                  <a:pt x="10590603" y="0"/>
                </a:lnTo>
                <a:lnTo>
                  <a:pt x="10590603" y="10109212"/>
                </a:lnTo>
                <a:lnTo>
                  <a:pt x="0" y="10109212"/>
                </a:lnTo>
                <a:lnTo>
                  <a:pt x="0" y="0"/>
                </a:lnTo>
                <a:close/>
              </a:path>
            </a:pathLst>
          </a:custGeom>
          <a:blipFill>
            <a:blip>
              <a:alphaModFix amt="2000"/>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1707249" y="-850912"/>
            <a:ext cx="10590603" cy="10109212"/>
          </a:xfrm>
          <a:custGeom>
            <a:avLst/>
            <a:gdLst/>
            <a:ahLst/>
            <a:cxnLst/>
            <a:rect l="l" t="t" r="r" b="b"/>
            <a:pathLst>
              <a:path w="10590603" h="10109212">
                <a:moveTo>
                  <a:pt x="10590603" y="10109212"/>
                </a:moveTo>
                <a:lnTo>
                  <a:pt x="0" y="10109212"/>
                </a:lnTo>
                <a:lnTo>
                  <a:pt x="0" y="0"/>
                </a:lnTo>
                <a:lnTo>
                  <a:pt x="10590603" y="0"/>
                </a:lnTo>
                <a:lnTo>
                  <a:pt x="10590603" y="10109212"/>
                </a:lnTo>
                <a:close/>
              </a:path>
            </a:pathLst>
          </a:custGeom>
          <a:blipFill>
            <a:blip>
              <a:alphaModFix amt="2000"/>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rot="-5400000">
            <a:off x="3684402" y="973323"/>
            <a:ext cx="2454281" cy="7765686"/>
            <a:chOff x="0" y="0"/>
            <a:chExt cx="698500" cy="2210151"/>
          </a:xfrm>
        </p:grpSpPr>
        <p:sp>
          <p:nvSpPr>
            <p:cNvPr id="5" name="Freeform 5"/>
            <p:cNvSpPr/>
            <p:nvPr/>
          </p:nvSpPr>
          <p:spPr>
            <a:xfrm>
              <a:off x="0" y="0"/>
              <a:ext cx="698500" cy="2210151"/>
            </a:xfrm>
            <a:custGeom>
              <a:avLst/>
              <a:gdLst/>
              <a:ahLst/>
              <a:cxnLst/>
              <a:rect l="l" t="t" r="r" b="b"/>
              <a:pathLst>
                <a:path w="698500" h="2210151">
                  <a:moveTo>
                    <a:pt x="349250" y="0"/>
                  </a:moveTo>
                  <a:lnTo>
                    <a:pt x="698500" y="203200"/>
                  </a:lnTo>
                  <a:lnTo>
                    <a:pt x="698500" y="2006951"/>
                  </a:lnTo>
                  <a:lnTo>
                    <a:pt x="349250" y="2210151"/>
                  </a:lnTo>
                  <a:lnTo>
                    <a:pt x="0" y="2006951"/>
                  </a:lnTo>
                  <a:lnTo>
                    <a:pt x="0" y="203200"/>
                  </a:lnTo>
                  <a:lnTo>
                    <a:pt x="349250" y="0"/>
                  </a:lnTo>
                  <a:close/>
                </a:path>
              </a:pathLst>
            </a:custGeom>
            <a:solidFill>
              <a:srgbClr val="FFFFFF"/>
            </a:solidFill>
          </p:spPr>
        </p:sp>
        <p:sp>
          <p:nvSpPr>
            <p:cNvPr id="6" name="TextBox 6"/>
            <p:cNvSpPr txBox="1"/>
            <p:nvPr/>
          </p:nvSpPr>
          <p:spPr>
            <a:xfrm>
              <a:off x="0" y="73025"/>
              <a:ext cx="698500" cy="1997426"/>
            </a:xfrm>
            <a:prstGeom prst="rect">
              <a:avLst/>
            </a:prstGeom>
          </p:spPr>
          <p:txBody>
            <a:bodyPr lIns="50800" tIns="50800" rIns="50800" bIns="50800" rtlCol="0" anchor="ctr"/>
            <a:lstStyle/>
            <a:p>
              <a:pPr marL="0" lvl="0" indent="0" algn="ctr">
                <a:lnSpc>
                  <a:spcPts val="3499"/>
                </a:lnSpc>
              </a:pPr>
              <a:endParaRPr/>
            </a:p>
          </p:txBody>
        </p:sp>
      </p:grpSp>
      <p:grpSp>
        <p:nvGrpSpPr>
          <p:cNvPr id="7" name="Group 7"/>
          <p:cNvGrpSpPr/>
          <p:nvPr/>
        </p:nvGrpSpPr>
        <p:grpSpPr>
          <a:xfrm rot="-5400000">
            <a:off x="12149317" y="973323"/>
            <a:ext cx="2454281" cy="7765686"/>
            <a:chOff x="0" y="0"/>
            <a:chExt cx="698500" cy="2210151"/>
          </a:xfrm>
        </p:grpSpPr>
        <p:sp>
          <p:nvSpPr>
            <p:cNvPr id="8" name="Freeform 8"/>
            <p:cNvSpPr/>
            <p:nvPr/>
          </p:nvSpPr>
          <p:spPr>
            <a:xfrm>
              <a:off x="0" y="0"/>
              <a:ext cx="698500" cy="2210151"/>
            </a:xfrm>
            <a:custGeom>
              <a:avLst/>
              <a:gdLst/>
              <a:ahLst/>
              <a:cxnLst/>
              <a:rect l="l" t="t" r="r" b="b"/>
              <a:pathLst>
                <a:path w="698500" h="2210151">
                  <a:moveTo>
                    <a:pt x="349250" y="0"/>
                  </a:moveTo>
                  <a:lnTo>
                    <a:pt x="698500" y="203200"/>
                  </a:lnTo>
                  <a:lnTo>
                    <a:pt x="698500" y="2006951"/>
                  </a:lnTo>
                  <a:lnTo>
                    <a:pt x="349250" y="2210151"/>
                  </a:lnTo>
                  <a:lnTo>
                    <a:pt x="0" y="2006951"/>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38100" cap="sq">
              <a:solidFill>
                <a:srgbClr val="FFFFFF"/>
              </a:solidFill>
              <a:prstDash val="solid"/>
              <a:miter/>
            </a:ln>
          </p:spPr>
        </p:sp>
        <p:sp>
          <p:nvSpPr>
            <p:cNvPr id="9" name="TextBox 9"/>
            <p:cNvSpPr txBox="1"/>
            <p:nvPr/>
          </p:nvSpPr>
          <p:spPr>
            <a:xfrm>
              <a:off x="0" y="73025"/>
              <a:ext cx="698500" cy="1997426"/>
            </a:xfrm>
            <a:prstGeom prst="rect">
              <a:avLst/>
            </a:prstGeom>
          </p:spPr>
          <p:txBody>
            <a:bodyPr lIns="50800" tIns="50800" rIns="50800" bIns="50800" rtlCol="0" anchor="ctr"/>
            <a:lstStyle/>
            <a:p>
              <a:pPr marL="0" lvl="0" indent="0" algn="ctr">
                <a:lnSpc>
                  <a:spcPts val="3499"/>
                </a:lnSpc>
                <a:spcBef>
                  <a:spcPct val="0"/>
                </a:spcBef>
              </a:pPr>
              <a:endParaRPr/>
            </a:p>
          </p:txBody>
        </p:sp>
      </p:grpSp>
      <p:grpSp>
        <p:nvGrpSpPr>
          <p:cNvPr id="10" name="Group 10"/>
          <p:cNvGrpSpPr/>
          <p:nvPr/>
        </p:nvGrpSpPr>
        <p:grpSpPr>
          <a:xfrm rot="-5400000">
            <a:off x="3684402" y="4148317"/>
            <a:ext cx="2454281" cy="7765686"/>
            <a:chOff x="0" y="0"/>
            <a:chExt cx="698500" cy="2210151"/>
          </a:xfrm>
        </p:grpSpPr>
        <p:sp>
          <p:nvSpPr>
            <p:cNvPr id="11" name="Freeform 11"/>
            <p:cNvSpPr/>
            <p:nvPr/>
          </p:nvSpPr>
          <p:spPr>
            <a:xfrm>
              <a:off x="0" y="0"/>
              <a:ext cx="698500" cy="2210151"/>
            </a:xfrm>
            <a:custGeom>
              <a:avLst/>
              <a:gdLst/>
              <a:ahLst/>
              <a:cxnLst/>
              <a:rect l="l" t="t" r="r" b="b"/>
              <a:pathLst>
                <a:path w="698500" h="2210151">
                  <a:moveTo>
                    <a:pt x="349250" y="0"/>
                  </a:moveTo>
                  <a:lnTo>
                    <a:pt x="698500" y="203200"/>
                  </a:lnTo>
                  <a:lnTo>
                    <a:pt x="698500" y="2006951"/>
                  </a:lnTo>
                  <a:lnTo>
                    <a:pt x="349250" y="2210151"/>
                  </a:lnTo>
                  <a:lnTo>
                    <a:pt x="0" y="2006951"/>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38100" cap="sq">
              <a:solidFill>
                <a:srgbClr val="FFFFFF"/>
              </a:solidFill>
              <a:prstDash val="solid"/>
              <a:miter/>
            </a:ln>
          </p:spPr>
        </p:sp>
        <p:sp>
          <p:nvSpPr>
            <p:cNvPr id="12" name="TextBox 12"/>
            <p:cNvSpPr txBox="1"/>
            <p:nvPr/>
          </p:nvSpPr>
          <p:spPr>
            <a:xfrm>
              <a:off x="0" y="73025"/>
              <a:ext cx="698500" cy="1997426"/>
            </a:xfrm>
            <a:prstGeom prst="rect">
              <a:avLst/>
            </a:prstGeom>
          </p:spPr>
          <p:txBody>
            <a:bodyPr lIns="50800" tIns="50800" rIns="50800" bIns="50800" rtlCol="0" anchor="ctr"/>
            <a:lstStyle/>
            <a:p>
              <a:pPr marL="0" lvl="0" indent="0" algn="ctr">
                <a:lnSpc>
                  <a:spcPts val="3499"/>
                </a:lnSpc>
              </a:pPr>
              <a:endParaRPr/>
            </a:p>
          </p:txBody>
        </p:sp>
      </p:grpSp>
      <p:grpSp>
        <p:nvGrpSpPr>
          <p:cNvPr id="13" name="Group 13"/>
          <p:cNvGrpSpPr/>
          <p:nvPr/>
        </p:nvGrpSpPr>
        <p:grpSpPr>
          <a:xfrm rot="-5400000">
            <a:off x="12149317" y="4148317"/>
            <a:ext cx="2454281" cy="7765686"/>
            <a:chOff x="0" y="0"/>
            <a:chExt cx="698500" cy="2210151"/>
          </a:xfrm>
        </p:grpSpPr>
        <p:sp>
          <p:nvSpPr>
            <p:cNvPr id="14" name="Freeform 14"/>
            <p:cNvSpPr/>
            <p:nvPr/>
          </p:nvSpPr>
          <p:spPr>
            <a:xfrm>
              <a:off x="0" y="0"/>
              <a:ext cx="698500" cy="2210151"/>
            </a:xfrm>
            <a:custGeom>
              <a:avLst/>
              <a:gdLst/>
              <a:ahLst/>
              <a:cxnLst/>
              <a:rect l="l" t="t" r="r" b="b"/>
              <a:pathLst>
                <a:path w="698500" h="2210151">
                  <a:moveTo>
                    <a:pt x="349250" y="0"/>
                  </a:moveTo>
                  <a:lnTo>
                    <a:pt x="698500" y="203200"/>
                  </a:lnTo>
                  <a:lnTo>
                    <a:pt x="698500" y="2006951"/>
                  </a:lnTo>
                  <a:lnTo>
                    <a:pt x="349250" y="2210151"/>
                  </a:lnTo>
                  <a:lnTo>
                    <a:pt x="0" y="2006951"/>
                  </a:lnTo>
                  <a:lnTo>
                    <a:pt x="0" y="203200"/>
                  </a:lnTo>
                  <a:lnTo>
                    <a:pt x="349250" y="0"/>
                  </a:lnTo>
                  <a:close/>
                </a:path>
              </a:pathLst>
            </a:custGeom>
            <a:solidFill>
              <a:srgbClr val="FFFFFF"/>
            </a:solidFill>
          </p:spPr>
        </p:sp>
        <p:sp>
          <p:nvSpPr>
            <p:cNvPr id="15" name="TextBox 15"/>
            <p:cNvSpPr txBox="1"/>
            <p:nvPr/>
          </p:nvSpPr>
          <p:spPr>
            <a:xfrm>
              <a:off x="0" y="73025"/>
              <a:ext cx="698500" cy="1997426"/>
            </a:xfrm>
            <a:prstGeom prst="rect">
              <a:avLst/>
            </a:prstGeom>
          </p:spPr>
          <p:txBody>
            <a:bodyPr lIns="50800" tIns="50800" rIns="50800" bIns="50800" rtlCol="0" anchor="ctr"/>
            <a:lstStyle/>
            <a:p>
              <a:pPr marL="0" lvl="0" indent="0" algn="ctr">
                <a:lnSpc>
                  <a:spcPts val="3499"/>
                </a:lnSpc>
              </a:pPr>
              <a:endParaRPr/>
            </a:p>
          </p:txBody>
        </p:sp>
      </p:grpSp>
      <p:grpSp>
        <p:nvGrpSpPr>
          <p:cNvPr id="16" name="Group 16"/>
          <p:cNvGrpSpPr/>
          <p:nvPr/>
        </p:nvGrpSpPr>
        <p:grpSpPr>
          <a:xfrm>
            <a:off x="16560686" y="1028700"/>
            <a:ext cx="698614" cy="812932"/>
            <a:chOff x="0" y="0"/>
            <a:chExt cx="698500" cy="812800"/>
          </a:xfrm>
        </p:grpSpPr>
        <p:sp>
          <p:nvSpPr>
            <p:cNvPr id="17" name="Freeform 17"/>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28575" cap="sq">
              <a:solidFill>
                <a:srgbClr val="FFFFFF"/>
              </a:solidFill>
              <a:prstDash val="solid"/>
              <a:miter/>
            </a:ln>
          </p:spPr>
        </p:sp>
        <p:sp>
          <p:nvSpPr>
            <p:cNvPr id="18" name="TextBox 18"/>
            <p:cNvSpPr txBox="1"/>
            <p:nvPr/>
          </p:nvSpPr>
          <p:spPr>
            <a:xfrm>
              <a:off x="0" y="73025"/>
              <a:ext cx="698500" cy="600075"/>
            </a:xfrm>
            <a:prstGeom prst="rect">
              <a:avLst/>
            </a:prstGeom>
          </p:spPr>
          <p:txBody>
            <a:bodyPr lIns="50800" tIns="50800" rIns="50800" bIns="50800" rtlCol="0" anchor="ctr"/>
            <a:lstStyle/>
            <a:p>
              <a:pPr marL="0" lvl="0" indent="0" algn="ctr">
                <a:lnSpc>
                  <a:spcPts val="3499"/>
                </a:lnSpc>
              </a:pPr>
              <a:endParaRPr/>
            </a:p>
          </p:txBody>
        </p:sp>
      </p:grpSp>
      <p:sp>
        <p:nvSpPr>
          <p:cNvPr id="19" name="Freeform 19"/>
          <p:cNvSpPr/>
          <p:nvPr/>
        </p:nvSpPr>
        <p:spPr>
          <a:xfrm>
            <a:off x="16747571" y="1286550"/>
            <a:ext cx="324844" cy="297232"/>
          </a:xfrm>
          <a:custGeom>
            <a:avLst/>
            <a:gdLst/>
            <a:ahLst/>
            <a:cxnLst/>
            <a:rect l="l" t="t" r="r" b="b"/>
            <a:pathLst>
              <a:path w="324844" h="297232">
                <a:moveTo>
                  <a:pt x="0" y="0"/>
                </a:moveTo>
                <a:lnTo>
                  <a:pt x="324844" y="0"/>
                </a:lnTo>
                <a:lnTo>
                  <a:pt x="324844" y="297232"/>
                </a:lnTo>
                <a:lnTo>
                  <a:pt x="0" y="29723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0" name="TextBox 20"/>
          <p:cNvSpPr txBox="1"/>
          <p:nvPr/>
        </p:nvSpPr>
        <p:spPr>
          <a:xfrm>
            <a:off x="1028700" y="904875"/>
            <a:ext cx="9615886" cy="2086082"/>
          </a:xfrm>
          <a:prstGeom prst="rect">
            <a:avLst/>
          </a:prstGeom>
        </p:spPr>
        <p:txBody>
          <a:bodyPr lIns="0" tIns="0" rIns="0" bIns="0" rtlCol="0" anchor="t">
            <a:spAutoFit/>
          </a:bodyPr>
          <a:lstStyle/>
          <a:p>
            <a:pPr marL="0" lvl="0" indent="0" algn="l">
              <a:lnSpc>
                <a:spcPts val="8394"/>
              </a:lnSpc>
              <a:spcBef>
                <a:spcPct val="0"/>
              </a:spcBef>
            </a:pPr>
            <a:r>
              <a:rPr lang="en-US" sz="5995" b="1">
                <a:gradFill>
                  <a:gsLst>
                    <a:gs pos="0">
                      <a:srgbClr val="51DACF">
                        <a:alpha val="100000"/>
                      </a:srgbClr>
                    </a:gs>
                    <a:gs pos="100000">
                      <a:srgbClr val="FFFFFF">
                        <a:alpha val="100000"/>
                      </a:srgbClr>
                    </a:gs>
                  </a:gsLst>
                  <a:lin ang="2700000"/>
                </a:gradFill>
                <a:latin typeface="HK Modular"/>
                <a:ea typeface="HK Modular"/>
                <a:cs typeface="HK Modular"/>
                <a:sym typeface="HK Modular"/>
              </a:rPr>
              <a:t>WHY MINEGUARD NEXUS?</a:t>
            </a:r>
          </a:p>
        </p:txBody>
      </p:sp>
      <p:sp>
        <p:nvSpPr>
          <p:cNvPr id="21" name="TextBox 21"/>
          <p:cNvSpPr txBox="1"/>
          <p:nvPr/>
        </p:nvSpPr>
        <p:spPr>
          <a:xfrm>
            <a:off x="1831570" y="4596871"/>
            <a:ext cx="6159945" cy="417120"/>
          </a:xfrm>
          <a:prstGeom prst="rect">
            <a:avLst/>
          </a:prstGeom>
        </p:spPr>
        <p:txBody>
          <a:bodyPr lIns="0" tIns="0" rIns="0" bIns="0" rtlCol="0" anchor="t">
            <a:spAutoFit/>
          </a:bodyPr>
          <a:lstStyle/>
          <a:p>
            <a:pPr marL="0" lvl="0" indent="0" algn="just">
              <a:lnSpc>
                <a:spcPts val="1684"/>
              </a:lnSpc>
              <a:spcBef>
                <a:spcPct val="0"/>
              </a:spcBef>
            </a:pPr>
            <a:r>
              <a:rPr lang="en-US" sz="1202">
                <a:solidFill>
                  <a:srgbClr val="000000"/>
                </a:solidFill>
                <a:latin typeface="Poppins"/>
                <a:ea typeface="Poppins"/>
                <a:cs typeface="Poppins"/>
                <a:sym typeface="Poppins"/>
              </a:rPr>
              <a:t>Consolidates inspections, safety records, equipment logs, environmental data, and contractor reports into a single, unified governance intelligence platform.</a:t>
            </a:r>
          </a:p>
        </p:txBody>
      </p:sp>
      <p:sp>
        <p:nvSpPr>
          <p:cNvPr id="22" name="TextBox 22"/>
          <p:cNvSpPr txBox="1"/>
          <p:nvPr/>
        </p:nvSpPr>
        <p:spPr>
          <a:xfrm>
            <a:off x="1831570" y="4015289"/>
            <a:ext cx="5350794" cy="198045"/>
          </a:xfrm>
          <a:prstGeom prst="rect">
            <a:avLst/>
          </a:prstGeom>
        </p:spPr>
        <p:txBody>
          <a:bodyPr lIns="0" tIns="0" rIns="0" bIns="0" rtlCol="0" anchor="t">
            <a:spAutoFit/>
          </a:bodyPr>
          <a:lstStyle/>
          <a:p>
            <a:pPr marL="0" lvl="0" indent="0" algn="just">
              <a:lnSpc>
                <a:spcPts val="1684"/>
              </a:lnSpc>
              <a:spcBef>
                <a:spcPct val="0"/>
              </a:spcBef>
            </a:pPr>
            <a:r>
              <a:rPr lang="en-US" sz="1202" b="1">
                <a:solidFill>
                  <a:srgbClr val="000000"/>
                </a:solidFill>
                <a:latin typeface="HK Modular"/>
                <a:ea typeface="HK Modular"/>
                <a:cs typeface="HK Modular"/>
                <a:sym typeface="HK Modular"/>
              </a:rPr>
              <a:t>Unified Data Integration</a:t>
            </a:r>
          </a:p>
        </p:txBody>
      </p:sp>
      <p:sp>
        <p:nvSpPr>
          <p:cNvPr id="23" name="TextBox 23"/>
          <p:cNvSpPr txBox="1"/>
          <p:nvPr/>
        </p:nvSpPr>
        <p:spPr>
          <a:xfrm>
            <a:off x="1884163" y="7793068"/>
            <a:ext cx="6054760" cy="626670"/>
          </a:xfrm>
          <a:prstGeom prst="rect">
            <a:avLst/>
          </a:prstGeom>
        </p:spPr>
        <p:txBody>
          <a:bodyPr lIns="0" tIns="0" rIns="0" bIns="0" rtlCol="0" anchor="t">
            <a:spAutoFit/>
          </a:bodyPr>
          <a:lstStyle/>
          <a:p>
            <a:pPr marL="0" lvl="0" indent="0" algn="just">
              <a:lnSpc>
                <a:spcPts val="1684"/>
              </a:lnSpc>
              <a:spcBef>
                <a:spcPct val="0"/>
              </a:spcBef>
            </a:pPr>
            <a:r>
              <a:rPr lang="en-US" sz="1202">
                <a:solidFill>
                  <a:srgbClr val="000000"/>
                </a:solidFill>
                <a:latin typeface="Poppins"/>
                <a:ea typeface="Poppins"/>
                <a:cs typeface="Poppins"/>
                <a:sym typeface="Poppins"/>
              </a:rPr>
              <a:t>AI-driven anomaly detection surfaces emerging governance risks before they escalate, enabling proactive mine management and reducing critical incident exposure.</a:t>
            </a:r>
          </a:p>
        </p:txBody>
      </p:sp>
      <p:sp>
        <p:nvSpPr>
          <p:cNvPr id="24" name="TextBox 24"/>
          <p:cNvSpPr txBox="1"/>
          <p:nvPr/>
        </p:nvSpPr>
        <p:spPr>
          <a:xfrm>
            <a:off x="1884163" y="7215251"/>
            <a:ext cx="3237750" cy="198045"/>
          </a:xfrm>
          <a:prstGeom prst="rect">
            <a:avLst/>
          </a:prstGeom>
        </p:spPr>
        <p:txBody>
          <a:bodyPr lIns="0" tIns="0" rIns="0" bIns="0" rtlCol="0" anchor="t">
            <a:spAutoFit/>
          </a:bodyPr>
          <a:lstStyle/>
          <a:p>
            <a:pPr marL="0" lvl="0" indent="0" algn="just">
              <a:lnSpc>
                <a:spcPts val="1684"/>
              </a:lnSpc>
              <a:spcBef>
                <a:spcPct val="0"/>
              </a:spcBef>
            </a:pPr>
            <a:r>
              <a:rPr lang="en-US" sz="1202" b="1">
                <a:solidFill>
                  <a:srgbClr val="000000"/>
                </a:solidFill>
                <a:latin typeface="HK Modular"/>
                <a:ea typeface="HK Modular"/>
                <a:cs typeface="HK Modular"/>
                <a:sym typeface="HK Modular"/>
              </a:rPr>
              <a:t>Early Risk Identification</a:t>
            </a:r>
          </a:p>
        </p:txBody>
      </p:sp>
      <p:sp>
        <p:nvSpPr>
          <p:cNvPr id="25" name="TextBox 25"/>
          <p:cNvSpPr txBox="1"/>
          <p:nvPr/>
        </p:nvSpPr>
        <p:spPr>
          <a:xfrm>
            <a:off x="10336078" y="7793068"/>
            <a:ext cx="6080758" cy="626670"/>
          </a:xfrm>
          <a:prstGeom prst="rect">
            <a:avLst/>
          </a:prstGeom>
        </p:spPr>
        <p:txBody>
          <a:bodyPr lIns="0" tIns="0" rIns="0" bIns="0" rtlCol="0" anchor="t">
            <a:spAutoFit/>
          </a:bodyPr>
          <a:lstStyle/>
          <a:p>
            <a:pPr marL="0" lvl="0" indent="0" algn="just">
              <a:lnSpc>
                <a:spcPts val="1684"/>
              </a:lnSpc>
              <a:spcBef>
                <a:spcPct val="0"/>
              </a:spcBef>
            </a:pPr>
            <a:r>
              <a:rPr lang="en-US" sz="1202">
                <a:solidFill>
                  <a:srgbClr val="000000"/>
                </a:solidFill>
                <a:latin typeface="Poppins"/>
                <a:ea typeface="Poppins"/>
                <a:cs typeface="Poppins"/>
                <a:sym typeface="Poppins"/>
              </a:rPr>
              <a:t>Automated statutory compliance tracking and real-time audit trails ensure coal mine operations consistently meet all legal and regulatory governance mandates.</a:t>
            </a:r>
          </a:p>
        </p:txBody>
      </p:sp>
      <p:sp>
        <p:nvSpPr>
          <p:cNvPr id="26" name="TextBox 26"/>
          <p:cNvSpPr txBox="1"/>
          <p:nvPr/>
        </p:nvSpPr>
        <p:spPr>
          <a:xfrm>
            <a:off x="10336078" y="7215251"/>
            <a:ext cx="6080758" cy="198045"/>
          </a:xfrm>
          <a:prstGeom prst="rect">
            <a:avLst/>
          </a:prstGeom>
        </p:spPr>
        <p:txBody>
          <a:bodyPr lIns="0" tIns="0" rIns="0" bIns="0" rtlCol="0" anchor="t">
            <a:spAutoFit/>
          </a:bodyPr>
          <a:lstStyle/>
          <a:p>
            <a:pPr marL="0" lvl="0" indent="0" algn="just">
              <a:lnSpc>
                <a:spcPts val="1684"/>
              </a:lnSpc>
              <a:spcBef>
                <a:spcPct val="0"/>
              </a:spcBef>
            </a:pPr>
            <a:r>
              <a:rPr lang="en-US" sz="1202" b="1">
                <a:solidFill>
                  <a:srgbClr val="000000"/>
                </a:solidFill>
                <a:latin typeface="HK Modular"/>
                <a:ea typeface="HK Modular"/>
                <a:cs typeface="HK Modular"/>
                <a:sym typeface="HK Modular"/>
              </a:rPr>
              <a:t>Regulatory Compliance Assurance</a:t>
            </a:r>
          </a:p>
        </p:txBody>
      </p:sp>
      <p:sp>
        <p:nvSpPr>
          <p:cNvPr id="27" name="TextBox 27"/>
          <p:cNvSpPr txBox="1"/>
          <p:nvPr/>
        </p:nvSpPr>
        <p:spPr>
          <a:xfrm>
            <a:off x="10331762" y="4619956"/>
            <a:ext cx="6089390" cy="626670"/>
          </a:xfrm>
          <a:prstGeom prst="rect">
            <a:avLst/>
          </a:prstGeom>
        </p:spPr>
        <p:txBody>
          <a:bodyPr lIns="0" tIns="0" rIns="0" bIns="0" rtlCol="0" anchor="t">
            <a:spAutoFit/>
          </a:bodyPr>
          <a:lstStyle/>
          <a:p>
            <a:pPr marL="0" lvl="0" indent="0" algn="just">
              <a:lnSpc>
                <a:spcPts val="1684"/>
              </a:lnSpc>
              <a:spcBef>
                <a:spcPct val="0"/>
              </a:spcBef>
            </a:pPr>
            <a:r>
              <a:rPr lang="en-US" sz="1202">
                <a:solidFill>
                  <a:srgbClr val="000000"/>
                </a:solidFill>
                <a:latin typeface="Poppins"/>
                <a:ea typeface="Poppins"/>
                <a:cs typeface="Poppins"/>
                <a:sym typeface="Poppins"/>
              </a:rPr>
              <a:t>Smart ranking algorithms highlight the most critical corrective actions, ensuring management focuses resources where impact is highest across all mine operations.</a:t>
            </a:r>
          </a:p>
        </p:txBody>
      </p:sp>
      <p:sp>
        <p:nvSpPr>
          <p:cNvPr id="28" name="TextBox 28"/>
          <p:cNvSpPr txBox="1"/>
          <p:nvPr/>
        </p:nvSpPr>
        <p:spPr>
          <a:xfrm>
            <a:off x="10331762" y="4038374"/>
            <a:ext cx="5350794" cy="198045"/>
          </a:xfrm>
          <a:prstGeom prst="rect">
            <a:avLst/>
          </a:prstGeom>
        </p:spPr>
        <p:txBody>
          <a:bodyPr lIns="0" tIns="0" rIns="0" bIns="0" rtlCol="0" anchor="t">
            <a:spAutoFit/>
          </a:bodyPr>
          <a:lstStyle/>
          <a:p>
            <a:pPr marL="0" lvl="0" indent="0" algn="just">
              <a:lnSpc>
                <a:spcPts val="1684"/>
              </a:lnSpc>
              <a:spcBef>
                <a:spcPct val="0"/>
              </a:spcBef>
            </a:pPr>
            <a:r>
              <a:rPr lang="en-US" sz="1202" b="1">
                <a:solidFill>
                  <a:srgbClr val="000000"/>
                </a:solidFill>
                <a:latin typeface="HK Modular"/>
                <a:ea typeface="HK Modular"/>
                <a:cs typeface="HK Modular"/>
                <a:sym typeface="HK Modular"/>
              </a:rPr>
              <a:t>Prioritized Interventions</a:t>
            </a:r>
          </a:p>
        </p:txBody>
      </p:sp>
      <p:sp>
        <p:nvSpPr>
          <p:cNvPr id="29" name="TextBox 29"/>
          <p:cNvSpPr txBox="1"/>
          <p:nvPr/>
        </p:nvSpPr>
        <p:spPr>
          <a:xfrm>
            <a:off x="15446772" y="962025"/>
            <a:ext cx="781325" cy="879520"/>
          </a:xfrm>
          <a:prstGeom prst="rect">
            <a:avLst/>
          </a:prstGeom>
        </p:spPr>
        <p:txBody>
          <a:bodyPr lIns="0" tIns="0" rIns="0" bIns="0" rtlCol="0" anchor="t">
            <a:spAutoFit/>
          </a:bodyPr>
          <a:lstStyle/>
          <a:p>
            <a:pPr marL="0" lvl="0" indent="0" algn="l">
              <a:lnSpc>
                <a:spcPts val="3497"/>
              </a:lnSpc>
              <a:spcBef>
                <a:spcPct val="0"/>
              </a:spcBef>
            </a:pPr>
            <a:r>
              <a:rPr lang="en-US" sz="2498">
                <a:solidFill>
                  <a:srgbClr val="FFFFFF"/>
                </a:solidFill>
                <a:latin typeface="Poppins"/>
                <a:ea typeface="Poppins"/>
                <a:cs typeface="Poppins"/>
                <a:sym typeface="Poppins"/>
              </a:rPr>
              <a:t>Next Slide</a:t>
            </a:r>
          </a:p>
        </p:txBody>
      </p:sp>
      <p:grpSp>
        <p:nvGrpSpPr>
          <p:cNvPr id="30" name="Group 30"/>
          <p:cNvGrpSpPr/>
          <p:nvPr/>
        </p:nvGrpSpPr>
        <p:grpSpPr>
          <a:xfrm>
            <a:off x="11688199" y="1028700"/>
            <a:ext cx="1244203" cy="1447800"/>
            <a:chOff x="0" y="0"/>
            <a:chExt cx="698500" cy="812800"/>
          </a:xfrm>
        </p:grpSpPr>
        <p:sp>
          <p:nvSpPr>
            <p:cNvPr id="31" name="Freeform 3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28575" cap="sq">
              <a:solidFill>
                <a:srgbClr val="FFFFFF"/>
              </a:solidFill>
              <a:prstDash val="solid"/>
              <a:miter/>
            </a:ln>
          </p:spPr>
        </p:sp>
        <p:sp>
          <p:nvSpPr>
            <p:cNvPr id="32" name="TextBox 32"/>
            <p:cNvSpPr txBox="1"/>
            <p:nvPr/>
          </p:nvSpPr>
          <p:spPr>
            <a:xfrm>
              <a:off x="0" y="73025"/>
              <a:ext cx="698500" cy="600075"/>
            </a:xfrm>
            <a:prstGeom prst="rect">
              <a:avLst/>
            </a:prstGeom>
          </p:spPr>
          <p:txBody>
            <a:bodyPr lIns="50800" tIns="50800" rIns="50800" bIns="50800" rtlCol="0" anchor="ctr"/>
            <a:lstStyle/>
            <a:p>
              <a:pPr marL="0" lvl="0" indent="0" algn="ctr">
                <a:lnSpc>
                  <a:spcPts val="3499"/>
                </a:lnSpc>
              </a:pPr>
              <a:endParaRPr/>
            </a:p>
          </p:txBody>
        </p:sp>
      </p:grpSp>
      <p:grpSp>
        <p:nvGrpSpPr>
          <p:cNvPr id="33" name="Group 33"/>
          <p:cNvGrpSpPr/>
          <p:nvPr/>
        </p:nvGrpSpPr>
        <p:grpSpPr>
          <a:xfrm>
            <a:off x="13852967" y="2019267"/>
            <a:ext cx="673239" cy="783406"/>
            <a:chOff x="0" y="0"/>
            <a:chExt cx="698500" cy="812800"/>
          </a:xfrm>
        </p:grpSpPr>
        <p:sp>
          <p:nvSpPr>
            <p:cNvPr id="34" name="Freeform 34"/>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28575" cap="sq">
              <a:solidFill>
                <a:srgbClr val="FFFFFF"/>
              </a:solidFill>
              <a:prstDash val="solid"/>
              <a:miter/>
            </a:ln>
          </p:spPr>
        </p:sp>
        <p:sp>
          <p:nvSpPr>
            <p:cNvPr id="35" name="TextBox 35"/>
            <p:cNvSpPr txBox="1"/>
            <p:nvPr/>
          </p:nvSpPr>
          <p:spPr>
            <a:xfrm>
              <a:off x="0" y="73025"/>
              <a:ext cx="698500" cy="600075"/>
            </a:xfrm>
            <a:prstGeom prst="rect">
              <a:avLst/>
            </a:prstGeom>
          </p:spPr>
          <p:txBody>
            <a:bodyPr lIns="50800" tIns="50800" rIns="50800" bIns="50800" rtlCol="0" anchor="ctr"/>
            <a:lstStyle/>
            <a:p>
              <a:pPr marL="0" lvl="0" indent="0" algn="ctr">
                <a:lnSpc>
                  <a:spcPts val="3499"/>
                </a:lnSpc>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92C">
                <a:alpha val="100000"/>
              </a:srgbClr>
            </a:gs>
            <a:gs pos="100000">
              <a:srgbClr val="00000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009852" y="1028700"/>
            <a:ext cx="10590603" cy="10109212"/>
          </a:xfrm>
          <a:custGeom>
            <a:avLst/>
            <a:gdLst/>
            <a:ahLst/>
            <a:cxnLst/>
            <a:rect l="l" t="t" r="r" b="b"/>
            <a:pathLst>
              <a:path w="10590603" h="10109212">
                <a:moveTo>
                  <a:pt x="0" y="0"/>
                </a:moveTo>
                <a:lnTo>
                  <a:pt x="10590603" y="0"/>
                </a:lnTo>
                <a:lnTo>
                  <a:pt x="10590603" y="10109212"/>
                </a:lnTo>
                <a:lnTo>
                  <a:pt x="0" y="10109212"/>
                </a:lnTo>
                <a:lnTo>
                  <a:pt x="0" y="0"/>
                </a:lnTo>
                <a:close/>
              </a:path>
            </a:pathLst>
          </a:custGeom>
          <a:blipFill>
            <a:blip>
              <a:alphaModFix amt="2000"/>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rot="-5400000">
            <a:off x="3531439" y="3995353"/>
            <a:ext cx="2760208" cy="7765686"/>
            <a:chOff x="0" y="0"/>
            <a:chExt cx="698500" cy="1965190"/>
          </a:xfrm>
        </p:grpSpPr>
        <p:sp>
          <p:nvSpPr>
            <p:cNvPr id="4" name="Freeform 4"/>
            <p:cNvSpPr/>
            <p:nvPr/>
          </p:nvSpPr>
          <p:spPr>
            <a:xfrm>
              <a:off x="0" y="0"/>
              <a:ext cx="698500" cy="1965190"/>
            </a:xfrm>
            <a:custGeom>
              <a:avLst/>
              <a:gdLst/>
              <a:ahLst/>
              <a:cxnLst/>
              <a:rect l="l" t="t" r="r" b="b"/>
              <a:pathLst>
                <a:path w="698500" h="1965190">
                  <a:moveTo>
                    <a:pt x="349250" y="0"/>
                  </a:moveTo>
                  <a:lnTo>
                    <a:pt x="698500" y="203200"/>
                  </a:lnTo>
                  <a:lnTo>
                    <a:pt x="698500" y="1761990"/>
                  </a:lnTo>
                  <a:lnTo>
                    <a:pt x="349250" y="1965190"/>
                  </a:lnTo>
                  <a:lnTo>
                    <a:pt x="0" y="1761990"/>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38100" cap="sq">
              <a:solidFill>
                <a:srgbClr val="FFFFFF"/>
              </a:solidFill>
              <a:prstDash val="solid"/>
              <a:miter/>
            </a:ln>
          </p:spPr>
        </p:sp>
        <p:sp>
          <p:nvSpPr>
            <p:cNvPr id="5" name="TextBox 5"/>
            <p:cNvSpPr txBox="1"/>
            <p:nvPr/>
          </p:nvSpPr>
          <p:spPr>
            <a:xfrm>
              <a:off x="0" y="73025"/>
              <a:ext cx="698500" cy="1752465"/>
            </a:xfrm>
            <a:prstGeom prst="rect">
              <a:avLst/>
            </a:prstGeom>
          </p:spPr>
          <p:txBody>
            <a:bodyPr lIns="50800" tIns="50800" rIns="50800" bIns="50800" rtlCol="0" anchor="ctr"/>
            <a:lstStyle/>
            <a:p>
              <a:pPr marL="0" lvl="0" indent="0" algn="ctr">
                <a:lnSpc>
                  <a:spcPts val="3499"/>
                </a:lnSpc>
                <a:spcBef>
                  <a:spcPct val="0"/>
                </a:spcBef>
              </a:pPr>
              <a:endParaRPr/>
            </a:p>
          </p:txBody>
        </p:sp>
      </p:grpSp>
      <p:sp>
        <p:nvSpPr>
          <p:cNvPr id="6" name="Freeform 6"/>
          <p:cNvSpPr/>
          <p:nvPr/>
        </p:nvSpPr>
        <p:spPr>
          <a:xfrm flipH="1" flipV="1">
            <a:off x="11707249" y="-850912"/>
            <a:ext cx="10590603" cy="10109212"/>
          </a:xfrm>
          <a:custGeom>
            <a:avLst/>
            <a:gdLst/>
            <a:ahLst/>
            <a:cxnLst/>
            <a:rect l="l" t="t" r="r" b="b"/>
            <a:pathLst>
              <a:path w="10590603" h="10109212">
                <a:moveTo>
                  <a:pt x="10590603" y="10109212"/>
                </a:moveTo>
                <a:lnTo>
                  <a:pt x="0" y="10109212"/>
                </a:lnTo>
                <a:lnTo>
                  <a:pt x="0" y="0"/>
                </a:lnTo>
                <a:lnTo>
                  <a:pt x="10590603" y="0"/>
                </a:lnTo>
                <a:lnTo>
                  <a:pt x="10590603" y="10109212"/>
                </a:lnTo>
                <a:close/>
              </a:path>
            </a:pathLst>
          </a:custGeom>
          <a:blipFill>
            <a:blip>
              <a:alphaModFix amt="2000"/>
              <a:extLst>
                <a:ext uri="{96DAC541-7B7A-43D3-8B79-37D633B846F1}">
                  <asvg:svgBlip xmlns:asvg="http://schemas.microsoft.com/office/drawing/2016/SVG/main" r:embed="rId2"/>
                </a:ext>
              </a:extLst>
            </a:blip>
            <a:stretch>
              <a:fillRect/>
            </a:stretch>
          </a:blipFill>
        </p:spPr>
      </p:sp>
      <p:grpSp>
        <p:nvGrpSpPr>
          <p:cNvPr id="7" name="Group 7"/>
          <p:cNvGrpSpPr/>
          <p:nvPr/>
        </p:nvGrpSpPr>
        <p:grpSpPr>
          <a:xfrm rot="-5400000">
            <a:off x="11996353" y="3995353"/>
            <a:ext cx="2760208" cy="7765686"/>
            <a:chOff x="0" y="0"/>
            <a:chExt cx="698500" cy="1965190"/>
          </a:xfrm>
        </p:grpSpPr>
        <p:sp>
          <p:nvSpPr>
            <p:cNvPr id="8" name="Freeform 8"/>
            <p:cNvSpPr/>
            <p:nvPr/>
          </p:nvSpPr>
          <p:spPr>
            <a:xfrm>
              <a:off x="0" y="0"/>
              <a:ext cx="698500" cy="1965190"/>
            </a:xfrm>
            <a:custGeom>
              <a:avLst/>
              <a:gdLst/>
              <a:ahLst/>
              <a:cxnLst/>
              <a:rect l="l" t="t" r="r" b="b"/>
              <a:pathLst>
                <a:path w="698500" h="1965190">
                  <a:moveTo>
                    <a:pt x="349250" y="0"/>
                  </a:moveTo>
                  <a:lnTo>
                    <a:pt x="698500" y="203200"/>
                  </a:lnTo>
                  <a:lnTo>
                    <a:pt x="698500" y="1761990"/>
                  </a:lnTo>
                  <a:lnTo>
                    <a:pt x="349250" y="1965190"/>
                  </a:lnTo>
                  <a:lnTo>
                    <a:pt x="0" y="1761990"/>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38100" cap="sq">
              <a:solidFill>
                <a:srgbClr val="FFFFFF"/>
              </a:solidFill>
              <a:prstDash val="solid"/>
              <a:miter/>
            </a:ln>
          </p:spPr>
        </p:sp>
        <p:sp>
          <p:nvSpPr>
            <p:cNvPr id="9" name="TextBox 9"/>
            <p:cNvSpPr txBox="1"/>
            <p:nvPr/>
          </p:nvSpPr>
          <p:spPr>
            <a:xfrm>
              <a:off x="0" y="73025"/>
              <a:ext cx="698500" cy="1752465"/>
            </a:xfrm>
            <a:prstGeom prst="rect">
              <a:avLst/>
            </a:prstGeom>
          </p:spPr>
          <p:txBody>
            <a:bodyPr lIns="50800" tIns="50800" rIns="50800" bIns="50800" rtlCol="0" anchor="ctr"/>
            <a:lstStyle/>
            <a:p>
              <a:pPr marL="0" lvl="0" indent="0" algn="ctr">
                <a:lnSpc>
                  <a:spcPts val="3499"/>
                </a:lnSpc>
                <a:spcBef>
                  <a:spcPct val="0"/>
                </a:spcBef>
              </a:pPr>
              <a:endParaRPr/>
            </a:p>
          </p:txBody>
        </p:sp>
      </p:grpSp>
      <p:sp>
        <p:nvSpPr>
          <p:cNvPr id="10" name="TextBox 10"/>
          <p:cNvSpPr txBox="1"/>
          <p:nvPr/>
        </p:nvSpPr>
        <p:spPr>
          <a:xfrm>
            <a:off x="1028700" y="904875"/>
            <a:ext cx="11188273" cy="2086082"/>
          </a:xfrm>
          <a:prstGeom prst="rect">
            <a:avLst/>
          </a:prstGeom>
        </p:spPr>
        <p:txBody>
          <a:bodyPr lIns="0" tIns="0" rIns="0" bIns="0" rtlCol="0" anchor="t">
            <a:spAutoFit/>
          </a:bodyPr>
          <a:lstStyle/>
          <a:p>
            <a:pPr marL="0" lvl="0" indent="0" algn="l">
              <a:lnSpc>
                <a:spcPts val="8394"/>
              </a:lnSpc>
              <a:spcBef>
                <a:spcPct val="0"/>
              </a:spcBef>
            </a:pPr>
            <a:r>
              <a:rPr lang="en-US" sz="5995" b="1">
                <a:gradFill>
                  <a:gsLst>
                    <a:gs pos="0">
                      <a:srgbClr val="51DACF">
                        <a:alpha val="100000"/>
                      </a:srgbClr>
                    </a:gs>
                    <a:gs pos="100000">
                      <a:srgbClr val="FFFFFF">
                        <a:alpha val="100000"/>
                      </a:srgbClr>
                    </a:gs>
                  </a:gsLst>
                  <a:lin ang="2700000"/>
                </a:gradFill>
                <a:latin typeface="HK Modular"/>
                <a:ea typeface="HK Modular"/>
                <a:cs typeface="HK Modular"/>
                <a:sym typeface="HK Modular"/>
              </a:rPr>
              <a:t>AI-POWERED TECHNOLOGY CORE</a:t>
            </a:r>
          </a:p>
        </p:txBody>
      </p:sp>
      <p:sp>
        <p:nvSpPr>
          <p:cNvPr id="11" name="TextBox 11"/>
          <p:cNvSpPr txBox="1"/>
          <p:nvPr/>
        </p:nvSpPr>
        <p:spPr>
          <a:xfrm>
            <a:off x="1028700" y="3663016"/>
            <a:ext cx="7765686" cy="1490472"/>
          </a:xfrm>
          <a:prstGeom prst="rect">
            <a:avLst/>
          </a:prstGeom>
        </p:spPr>
        <p:txBody>
          <a:bodyPr lIns="0" tIns="0" rIns="0" bIns="0" rtlCol="0" anchor="t">
            <a:spAutoFit/>
          </a:bodyPr>
          <a:lstStyle/>
          <a:p>
            <a:pPr marL="0" lvl="0" indent="0" algn="just">
              <a:lnSpc>
                <a:spcPts val="2373"/>
              </a:lnSpc>
              <a:spcBef>
                <a:spcPct val="0"/>
              </a:spcBef>
            </a:pPr>
            <a:r>
              <a:rPr lang="en-US" sz="1695">
                <a:solidFill>
                  <a:srgbClr val="FFFFFF"/>
                </a:solidFill>
                <a:latin typeface="Poppins"/>
                <a:ea typeface="Poppins"/>
                <a:cs typeface="Poppins"/>
                <a:sym typeface="Poppins"/>
              </a:rPr>
              <a:t>MineGuard Nexus leverages advanced machine learning algorithms to continuously analyze patterns across thousands of governance signals. The system detects anomalies, predicts compliance risks before they escalate, and delivers actionable intelligence to decision-makers in real time.</a:t>
            </a:r>
          </a:p>
        </p:txBody>
      </p:sp>
      <p:sp>
        <p:nvSpPr>
          <p:cNvPr id="12" name="TextBox 12"/>
          <p:cNvSpPr txBox="1"/>
          <p:nvPr/>
        </p:nvSpPr>
        <p:spPr>
          <a:xfrm>
            <a:off x="9493614" y="3663016"/>
            <a:ext cx="7765686" cy="1195197"/>
          </a:xfrm>
          <a:prstGeom prst="rect">
            <a:avLst/>
          </a:prstGeom>
        </p:spPr>
        <p:txBody>
          <a:bodyPr lIns="0" tIns="0" rIns="0" bIns="0" rtlCol="0" anchor="t">
            <a:spAutoFit/>
          </a:bodyPr>
          <a:lstStyle/>
          <a:p>
            <a:pPr marL="0" lvl="0" indent="0" algn="just">
              <a:lnSpc>
                <a:spcPts val="2373"/>
              </a:lnSpc>
              <a:spcBef>
                <a:spcPct val="0"/>
              </a:spcBef>
            </a:pPr>
            <a:r>
              <a:rPr lang="en-US" sz="1695">
                <a:solidFill>
                  <a:srgbClr val="FFFFFF"/>
                </a:solidFill>
                <a:latin typeface="Poppins"/>
                <a:ea typeface="Poppins"/>
                <a:cs typeface="Poppins"/>
                <a:sym typeface="Poppins"/>
              </a:rPr>
              <a:t>Deep learning models trained on historical mining data enable MineGuard Nexus to recognize early warning indicators across inspections, equipment health, environmental readings, and contractor performance — transforming raw data into precise risk predictions.</a:t>
            </a:r>
          </a:p>
        </p:txBody>
      </p:sp>
      <p:sp>
        <p:nvSpPr>
          <p:cNvPr id="13" name="TextBox 13"/>
          <p:cNvSpPr txBox="1"/>
          <p:nvPr/>
        </p:nvSpPr>
        <p:spPr>
          <a:xfrm>
            <a:off x="1957793" y="7612684"/>
            <a:ext cx="5907500" cy="899922"/>
          </a:xfrm>
          <a:prstGeom prst="rect">
            <a:avLst/>
          </a:prstGeom>
        </p:spPr>
        <p:txBody>
          <a:bodyPr lIns="0" tIns="0" rIns="0" bIns="0" rtlCol="0" anchor="t">
            <a:spAutoFit/>
          </a:bodyPr>
          <a:lstStyle/>
          <a:p>
            <a:pPr marL="0" lvl="0" indent="0" algn="just">
              <a:lnSpc>
                <a:spcPts val="2373"/>
              </a:lnSpc>
              <a:spcBef>
                <a:spcPct val="0"/>
              </a:spcBef>
            </a:pPr>
            <a:r>
              <a:rPr lang="en-US" sz="1695">
                <a:solidFill>
                  <a:srgbClr val="000000"/>
                </a:solidFill>
                <a:latin typeface="Poppins"/>
                <a:ea typeface="Poppins"/>
                <a:cs typeface="Poppins"/>
                <a:sym typeface="Poppins"/>
              </a:rPr>
              <a:t>Pattern recognition, risk scoring, and predictive compliance modeling powered by machine learning across all mine governance data streams.</a:t>
            </a:r>
          </a:p>
        </p:txBody>
      </p:sp>
      <p:sp>
        <p:nvSpPr>
          <p:cNvPr id="14" name="TextBox 14"/>
          <p:cNvSpPr txBox="1"/>
          <p:nvPr/>
        </p:nvSpPr>
        <p:spPr>
          <a:xfrm>
            <a:off x="1957793" y="7042082"/>
            <a:ext cx="5350794" cy="290322"/>
          </a:xfrm>
          <a:prstGeom prst="rect">
            <a:avLst/>
          </a:prstGeom>
        </p:spPr>
        <p:txBody>
          <a:bodyPr lIns="0" tIns="0" rIns="0" bIns="0" rtlCol="0" anchor="t">
            <a:spAutoFit/>
          </a:bodyPr>
          <a:lstStyle/>
          <a:p>
            <a:pPr marL="0" lvl="0" indent="0" algn="just">
              <a:lnSpc>
                <a:spcPts val="2373"/>
              </a:lnSpc>
              <a:spcBef>
                <a:spcPct val="0"/>
              </a:spcBef>
            </a:pPr>
            <a:r>
              <a:rPr lang="en-US" sz="1695" b="1">
                <a:solidFill>
                  <a:srgbClr val="000000"/>
                </a:solidFill>
                <a:latin typeface="HK Modular"/>
                <a:ea typeface="HK Modular"/>
                <a:cs typeface="HK Modular"/>
                <a:sym typeface="HK Modular"/>
              </a:rPr>
              <a:t>AI &amp; Predictive Analytics</a:t>
            </a:r>
          </a:p>
        </p:txBody>
      </p:sp>
      <p:sp>
        <p:nvSpPr>
          <p:cNvPr id="15" name="TextBox 15"/>
          <p:cNvSpPr txBox="1"/>
          <p:nvPr/>
        </p:nvSpPr>
        <p:spPr>
          <a:xfrm>
            <a:off x="10331762" y="7612684"/>
            <a:ext cx="6089390" cy="899922"/>
          </a:xfrm>
          <a:prstGeom prst="rect">
            <a:avLst/>
          </a:prstGeom>
        </p:spPr>
        <p:txBody>
          <a:bodyPr lIns="0" tIns="0" rIns="0" bIns="0" rtlCol="0" anchor="t">
            <a:spAutoFit/>
          </a:bodyPr>
          <a:lstStyle/>
          <a:p>
            <a:pPr marL="0" lvl="0" indent="0" algn="just">
              <a:lnSpc>
                <a:spcPts val="2373"/>
              </a:lnSpc>
              <a:spcBef>
                <a:spcPct val="0"/>
              </a:spcBef>
            </a:pPr>
            <a:r>
              <a:rPr lang="en-US" sz="1695">
                <a:solidFill>
                  <a:srgbClr val="000000"/>
                </a:solidFill>
                <a:latin typeface="Poppins"/>
                <a:ea typeface="Poppins"/>
                <a:cs typeface="Poppins"/>
                <a:sym typeface="Poppins"/>
              </a:rPr>
              <a:t>Seamless unified connectivity across inspection records, statutory documents, equipment logs, contractor data, and environmental monitoring systems.</a:t>
            </a:r>
          </a:p>
        </p:txBody>
      </p:sp>
      <p:sp>
        <p:nvSpPr>
          <p:cNvPr id="16" name="TextBox 16"/>
          <p:cNvSpPr txBox="1"/>
          <p:nvPr/>
        </p:nvSpPr>
        <p:spPr>
          <a:xfrm>
            <a:off x="10331762" y="7042082"/>
            <a:ext cx="6089390" cy="290322"/>
          </a:xfrm>
          <a:prstGeom prst="rect">
            <a:avLst/>
          </a:prstGeom>
        </p:spPr>
        <p:txBody>
          <a:bodyPr lIns="0" tIns="0" rIns="0" bIns="0" rtlCol="0" anchor="t">
            <a:spAutoFit/>
          </a:bodyPr>
          <a:lstStyle/>
          <a:p>
            <a:pPr marL="0" lvl="0" indent="0" algn="just">
              <a:lnSpc>
                <a:spcPts val="2373"/>
              </a:lnSpc>
              <a:spcBef>
                <a:spcPct val="0"/>
              </a:spcBef>
            </a:pPr>
            <a:r>
              <a:rPr lang="en-US" sz="1695" b="1">
                <a:solidFill>
                  <a:srgbClr val="000000"/>
                </a:solidFill>
                <a:latin typeface="HK Modular"/>
                <a:ea typeface="HK Modular"/>
                <a:cs typeface="HK Modular"/>
                <a:sym typeface="HK Modular"/>
              </a:rPr>
              <a:t>Smart System Integration</a:t>
            </a:r>
          </a:p>
        </p:txBody>
      </p:sp>
      <p:grpSp>
        <p:nvGrpSpPr>
          <p:cNvPr id="17" name="Group 17"/>
          <p:cNvGrpSpPr/>
          <p:nvPr/>
        </p:nvGrpSpPr>
        <p:grpSpPr>
          <a:xfrm>
            <a:off x="16560686" y="1028700"/>
            <a:ext cx="698614" cy="812932"/>
            <a:chOff x="0" y="0"/>
            <a:chExt cx="698500" cy="812800"/>
          </a:xfrm>
        </p:grpSpPr>
        <p:sp>
          <p:nvSpPr>
            <p:cNvPr id="18" name="Freeform 18"/>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28575" cap="sq">
              <a:solidFill>
                <a:srgbClr val="FFFFFF"/>
              </a:solidFill>
              <a:prstDash val="solid"/>
              <a:miter/>
            </a:ln>
          </p:spPr>
        </p:sp>
        <p:sp>
          <p:nvSpPr>
            <p:cNvPr id="19" name="TextBox 19"/>
            <p:cNvSpPr txBox="1"/>
            <p:nvPr/>
          </p:nvSpPr>
          <p:spPr>
            <a:xfrm>
              <a:off x="0" y="73025"/>
              <a:ext cx="698500" cy="600075"/>
            </a:xfrm>
            <a:prstGeom prst="rect">
              <a:avLst/>
            </a:prstGeom>
          </p:spPr>
          <p:txBody>
            <a:bodyPr lIns="50800" tIns="50800" rIns="50800" bIns="50800" rtlCol="0" anchor="ctr"/>
            <a:lstStyle/>
            <a:p>
              <a:pPr marL="0" lvl="0" indent="0" algn="ctr">
                <a:lnSpc>
                  <a:spcPts val="3499"/>
                </a:lnSpc>
              </a:pPr>
              <a:endParaRPr/>
            </a:p>
          </p:txBody>
        </p:sp>
      </p:grpSp>
      <p:sp>
        <p:nvSpPr>
          <p:cNvPr id="20" name="Freeform 20"/>
          <p:cNvSpPr/>
          <p:nvPr/>
        </p:nvSpPr>
        <p:spPr>
          <a:xfrm>
            <a:off x="16747571" y="1286550"/>
            <a:ext cx="324844" cy="297232"/>
          </a:xfrm>
          <a:custGeom>
            <a:avLst/>
            <a:gdLst/>
            <a:ahLst/>
            <a:cxnLst/>
            <a:rect l="l" t="t" r="r" b="b"/>
            <a:pathLst>
              <a:path w="324844" h="297232">
                <a:moveTo>
                  <a:pt x="0" y="0"/>
                </a:moveTo>
                <a:lnTo>
                  <a:pt x="324844" y="0"/>
                </a:lnTo>
                <a:lnTo>
                  <a:pt x="324844" y="297232"/>
                </a:lnTo>
                <a:lnTo>
                  <a:pt x="0" y="29723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1" name="TextBox 21"/>
          <p:cNvSpPr txBox="1"/>
          <p:nvPr/>
        </p:nvSpPr>
        <p:spPr>
          <a:xfrm>
            <a:off x="15446772" y="962025"/>
            <a:ext cx="781325" cy="879520"/>
          </a:xfrm>
          <a:prstGeom prst="rect">
            <a:avLst/>
          </a:prstGeom>
        </p:spPr>
        <p:txBody>
          <a:bodyPr lIns="0" tIns="0" rIns="0" bIns="0" rtlCol="0" anchor="t">
            <a:spAutoFit/>
          </a:bodyPr>
          <a:lstStyle/>
          <a:p>
            <a:pPr marL="0" lvl="0" indent="0" algn="l">
              <a:lnSpc>
                <a:spcPts val="3497"/>
              </a:lnSpc>
              <a:spcBef>
                <a:spcPct val="0"/>
              </a:spcBef>
            </a:pPr>
            <a:r>
              <a:rPr lang="en-US" sz="2498">
                <a:solidFill>
                  <a:srgbClr val="FFFFFF"/>
                </a:solidFill>
                <a:latin typeface="Poppins"/>
                <a:ea typeface="Poppins"/>
                <a:cs typeface="Poppins"/>
                <a:sym typeface="Poppins"/>
              </a:rPr>
              <a:t>Next Slide</a:t>
            </a:r>
          </a:p>
        </p:txBody>
      </p:sp>
      <p:grpSp>
        <p:nvGrpSpPr>
          <p:cNvPr id="22" name="Group 22"/>
          <p:cNvGrpSpPr/>
          <p:nvPr/>
        </p:nvGrpSpPr>
        <p:grpSpPr>
          <a:xfrm>
            <a:off x="13220854" y="1583782"/>
            <a:ext cx="1222039" cy="1422009"/>
            <a:chOff x="0" y="0"/>
            <a:chExt cx="698500" cy="812800"/>
          </a:xfrm>
        </p:grpSpPr>
        <p:sp>
          <p:nvSpPr>
            <p:cNvPr id="23" name="Freeform 23"/>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28575" cap="sq">
              <a:solidFill>
                <a:srgbClr val="FFFFFF"/>
              </a:solidFill>
              <a:prstDash val="solid"/>
              <a:miter/>
            </a:ln>
          </p:spPr>
        </p:sp>
        <p:sp>
          <p:nvSpPr>
            <p:cNvPr id="24" name="TextBox 24"/>
            <p:cNvSpPr txBox="1"/>
            <p:nvPr/>
          </p:nvSpPr>
          <p:spPr>
            <a:xfrm>
              <a:off x="0" y="73025"/>
              <a:ext cx="698500" cy="600075"/>
            </a:xfrm>
            <a:prstGeom prst="rect">
              <a:avLst/>
            </a:prstGeom>
          </p:spPr>
          <p:txBody>
            <a:bodyPr lIns="50800" tIns="50800" rIns="50800" bIns="50800" rtlCol="0" anchor="ctr"/>
            <a:lstStyle/>
            <a:p>
              <a:pPr marL="0" lvl="0" indent="0" algn="ctr">
                <a:lnSpc>
                  <a:spcPts val="3499"/>
                </a:lnSpc>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92C">
                <a:alpha val="100000"/>
              </a:srgbClr>
            </a:gs>
            <a:gs pos="100000">
              <a:srgbClr val="00000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009852" y="1028700"/>
            <a:ext cx="10590603" cy="10109212"/>
          </a:xfrm>
          <a:custGeom>
            <a:avLst/>
            <a:gdLst/>
            <a:ahLst/>
            <a:cxnLst/>
            <a:rect l="l" t="t" r="r" b="b"/>
            <a:pathLst>
              <a:path w="10590603" h="10109212">
                <a:moveTo>
                  <a:pt x="0" y="0"/>
                </a:moveTo>
                <a:lnTo>
                  <a:pt x="10590603" y="0"/>
                </a:lnTo>
                <a:lnTo>
                  <a:pt x="10590603" y="10109212"/>
                </a:lnTo>
                <a:lnTo>
                  <a:pt x="0" y="10109212"/>
                </a:lnTo>
                <a:lnTo>
                  <a:pt x="0" y="0"/>
                </a:lnTo>
                <a:close/>
              </a:path>
            </a:pathLst>
          </a:custGeom>
          <a:blipFill>
            <a:blip>
              <a:alphaModFix amt="2000"/>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1707249" y="-850912"/>
            <a:ext cx="10590603" cy="10109212"/>
          </a:xfrm>
          <a:custGeom>
            <a:avLst/>
            <a:gdLst/>
            <a:ahLst/>
            <a:cxnLst/>
            <a:rect l="l" t="t" r="r" b="b"/>
            <a:pathLst>
              <a:path w="10590603" h="10109212">
                <a:moveTo>
                  <a:pt x="10590603" y="10109212"/>
                </a:moveTo>
                <a:lnTo>
                  <a:pt x="0" y="10109212"/>
                </a:lnTo>
                <a:lnTo>
                  <a:pt x="0" y="0"/>
                </a:lnTo>
                <a:lnTo>
                  <a:pt x="10590603" y="0"/>
                </a:lnTo>
                <a:lnTo>
                  <a:pt x="10590603" y="10109212"/>
                </a:lnTo>
                <a:close/>
              </a:path>
            </a:pathLst>
          </a:custGeom>
          <a:blipFill>
            <a:blip>
              <a:alphaModFix amt="2000"/>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a:off x="11889525" y="3009834"/>
            <a:ext cx="5369775" cy="6248466"/>
            <a:chOff x="0" y="0"/>
            <a:chExt cx="698500" cy="812800"/>
          </a:xfrm>
        </p:grpSpPr>
        <p:sp>
          <p:nvSpPr>
            <p:cNvPr id="5" name="Freeform 5"/>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blipFill>
              <a:blip r:embed="rId3"/>
              <a:stretch>
                <a:fillRect t="-182" b="-182"/>
              </a:stretch>
            </a:blipFill>
            <a:ln w="38100" cap="sq">
              <a:solidFill>
                <a:srgbClr val="FFFFFF"/>
              </a:solidFill>
              <a:prstDash val="solid"/>
              <a:miter/>
            </a:ln>
          </p:spPr>
        </p:sp>
      </p:grpSp>
      <p:grpSp>
        <p:nvGrpSpPr>
          <p:cNvPr id="6" name="Group 6"/>
          <p:cNvGrpSpPr/>
          <p:nvPr/>
        </p:nvGrpSpPr>
        <p:grpSpPr>
          <a:xfrm>
            <a:off x="16560686" y="1028700"/>
            <a:ext cx="698614" cy="812932"/>
            <a:chOff x="0" y="0"/>
            <a:chExt cx="698500" cy="812800"/>
          </a:xfrm>
        </p:grpSpPr>
        <p:sp>
          <p:nvSpPr>
            <p:cNvPr id="7" name="Freeform 7"/>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28575" cap="sq">
              <a:solidFill>
                <a:srgbClr val="FFFFFF"/>
              </a:solidFill>
              <a:prstDash val="solid"/>
              <a:miter/>
            </a:ln>
          </p:spPr>
        </p:sp>
        <p:sp>
          <p:nvSpPr>
            <p:cNvPr id="8" name="TextBox 8"/>
            <p:cNvSpPr txBox="1"/>
            <p:nvPr/>
          </p:nvSpPr>
          <p:spPr>
            <a:xfrm>
              <a:off x="0" y="73025"/>
              <a:ext cx="698500" cy="600075"/>
            </a:xfrm>
            <a:prstGeom prst="rect">
              <a:avLst/>
            </a:prstGeom>
          </p:spPr>
          <p:txBody>
            <a:bodyPr lIns="50800" tIns="50800" rIns="50800" bIns="50800" rtlCol="0" anchor="ctr"/>
            <a:lstStyle/>
            <a:p>
              <a:pPr marL="0" lvl="0" indent="0" algn="ctr">
                <a:lnSpc>
                  <a:spcPts val="3499"/>
                </a:lnSpc>
              </a:pPr>
              <a:endParaRPr/>
            </a:p>
          </p:txBody>
        </p:sp>
      </p:grpSp>
      <p:grpSp>
        <p:nvGrpSpPr>
          <p:cNvPr id="9" name="Group 9"/>
          <p:cNvGrpSpPr/>
          <p:nvPr/>
        </p:nvGrpSpPr>
        <p:grpSpPr>
          <a:xfrm>
            <a:off x="11889525" y="8485072"/>
            <a:ext cx="664492" cy="773228"/>
            <a:chOff x="0" y="0"/>
            <a:chExt cx="698500" cy="812800"/>
          </a:xfrm>
        </p:grpSpPr>
        <p:sp>
          <p:nvSpPr>
            <p:cNvPr id="10" name="Freeform 10"/>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28575" cap="sq">
              <a:solidFill>
                <a:srgbClr val="FFFFFF"/>
              </a:solidFill>
              <a:prstDash val="solid"/>
              <a:miter/>
            </a:ln>
          </p:spPr>
        </p:sp>
        <p:sp>
          <p:nvSpPr>
            <p:cNvPr id="11" name="TextBox 11"/>
            <p:cNvSpPr txBox="1"/>
            <p:nvPr/>
          </p:nvSpPr>
          <p:spPr>
            <a:xfrm>
              <a:off x="0" y="73025"/>
              <a:ext cx="698500" cy="600075"/>
            </a:xfrm>
            <a:prstGeom prst="rect">
              <a:avLst/>
            </a:prstGeom>
          </p:spPr>
          <p:txBody>
            <a:bodyPr lIns="50800" tIns="50800" rIns="50800" bIns="50800" rtlCol="0" anchor="ctr"/>
            <a:lstStyle/>
            <a:p>
              <a:pPr marL="0" lvl="0" indent="0" algn="ctr">
                <a:lnSpc>
                  <a:spcPts val="3499"/>
                </a:lnSpc>
              </a:pPr>
              <a:endParaRPr/>
            </a:p>
          </p:txBody>
        </p:sp>
      </p:grpSp>
      <p:sp>
        <p:nvSpPr>
          <p:cNvPr id="12" name="Freeform 12"/>
          <p:cNvSpPr/>
          <p:nvPr/>
        </p:nvSpPr>
        <p:spPr>
          <a:xfrm>
            <a:off x="16747571" y="1286550"/>
            <a:ext cx="324844" cy="297232"/>
          </a:xfrm>
          <a:custGeom>
            <a:avLst/>
            <a:gdLst/>
            <a:ahLst/>
            <a:cxnLst/>
            <a:rect l="l" t="t" r="r" b="b"/>
            <a:pathLst>
              <a:path w="324844" h="297232">
                <a:moveTo>
                  <a:pt x="0" y="0"/>
                </a:moveTo>
                <a:lnTo>
                  <a:pt x="324844" y="0"/>
                </a:lnTo>
                <a:lnTo>
                  <a:pt x="324844" y="297232"/>
                </a:lnTo>
                <a:lnTo>
                  <a:pt x="0" y="29723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3" name="TextBox 13"/>
          <p:cNvSpPr txBox="1"/>
          <p:nvPr/>
        </p:nvSpPr>
        <p:spPr>
          <a:xfrm>
            <a:off x="1028700" y="904875"/>
            <a:ext cx="10326124" cy="2086082"/>
          </a:xfrm>
          <a:prstGeom prst="rect">
            <a:avLst/>
          </a:prstGeom>
        </p:spPr>
        <p:txBody>
          <a:bodyPr lIns="0" tIns="0" rIns="0" bIns="0" rtlCol="0" anchor="t">
            <a:spAutoFit/>
          </a:bodyPr>
          <a:lstStyle/>
          <a:p>
            <a:pPr marL="0" lvl="0" indent="0" algn="l">
              <a:lnSpc>
                <a:spcPts val="8394"/>
              </a:lnSpc>
              <a:spcBef>
                <a:spcPct val="0"/>
              </a:spcBef>
            </a:pPr>
            <a:r>
              <a:rPr lang="en-US" sz="5995" b="1">
                <a:gradFill>
                  <a:gsLst>
                    <a:gs pos="0">
                      <a:srgbClr val="51DACF">
                        <a:alpha val="100000"/>
                      </a:srgbClr>
                    </a:gs>
                    <a:gs pos="100000">
                      <a:srgbClr val="FFFFFF">
                        <a:alpha val="100000"/>
                      </a:srgbClr>
                    </a:gs>
                  </a:gsLst>
                  <a:lin ang="2700000"/>
                </a:gradFill>
                <a:latin typeface="HK Modular"/>
                <a:ea typeface="HK Modular"/>
                <a:cs typeface="HK Modular"/>
                <a:sym typeface="HK Modular"/>
              </a:rPr>
              <a:t>MINEGUARD NEXUS</a:t>
            </a:r>
          </a:p>
          <a:p>
            <a:pPr marL="0" lvl="0" indent="0" algn="l">
              <a:lnSpc>
                <a:spcPts val="8394"/>
              </a:lnSpc>
              <a:spcBef>
                <a:spcPct val="0"/>
              </a:spcBef>
            </a:pPr>
            <a:r>
              <a:rPr lang="en-US" sz="5995" b="1">
                <a:gradFill>
                  <a:gsLst>
                    <a:gs pos="0">
                      <a:srgbClr val="51DACF">
                        <a:alpha val="100000"/>
                      </a:srgbClr>
                    </a:gs>
                    <a:gs pos="100000">
                      <a:srgbClr val="FFFFFF">
                        <a:alpha val="100000"/>
                      </a:srgbClr>
                    </a:gs>
                  </a:gsLst>
                  <a:lin ang="2700000"/>
                </a:gradFill>
                <a:latin typeface="HK Modular"/>
                <a:ea typeface="HK Modular"/>
                <a:cs typeface="HK Modular"/>
                <a:sym typeface="HK Modular"/>
              </a:rPr>
              <a:t>USE CASES</a:t>
            </a:r>
          </a:p>
        </p:txBody>
      </p:sp>
      <p:sp>
        <p:nvSpPr>
          <p:cNvPr id="14" name="TextBox 14"/>
          <p:cNvSpPr txBox="1"/>
          <p:nvPr/>
        </p:nvSpPr>
        <p:spPr>
          <a:xfrm>
            <a:off x="1028700" y="3614819"/>
            <a:ext cx="7295245" cy="431845"/>
          </a:xfrm>
          <a:prstGeom prst="rect">
            <a:avLst/>
          </a:prstGeom>
        </p:spPr>
        <p:txBody>
          <a:bodyPr lIns="0" tIns="0" rIns="0" bIns="0" rtlCol="0" anchor="t">
            <a:spAutoFit/>
          </a:bodyPr>
          <a:lstStyle/>
          <a:p>
            <a:pPr marL="0" lvl="0" indent="0" algn="just">
              <a:lnSpc>
                <a:spcPts val="3497"/>
              </a:lnSpc>
              <a:spcBef>
                <a:spcPct val="0"/>
              </a:spcBef>
            </a:pPr>
            <a:r>
              <a:rPr lang="en-US" sz="2498" b="1">
                <a:gradFill>
                  <a:gsLst>
                    <a:gs pos="0">
                      <a:srgbClr val="51DACF">
                        <a:alpha val="100000"/>
                      </a:srgbClr>
                    </a:gs>
                    <a:gs pos="100000">
                      <a:srgbClr val="FFFFFF">
                        <a:alpha val="100000"/>
                      </a:srgbClr>
                    </a:gs>
                  </a:gsLst>
                  <a:lin ang="2700000"/>
                </a:gradFill>
                <a:latin typeface="HK Modular"/>
                <a:ea typeface="HK Modular"/>
                <a:cs typeface="HK Modular"/>
                <a:sym typeface="HK Modular"/>
              </a:rPr>
              <a:t>Safety Monitoring</a:t>
            </a:r>
          </a:p>
        </p:txBody>
      </p:sp>
      <p:sp>
        <p:nvSpPr>
          <p:cNvPr id="15" name="TextBox 15"/>
          <p:cNvSpPr txBox="1"/>
          <p:nvPr/>
        </p:nvSpPr>
        <p:spPr>
          <a:xfrm>
            <a:off x="1028700" y="7867782"/>
            <a:ext cx="8621709" cy="431845"/>
          </a:xfrm>
          <a:prstGeom prst="rect">
            <a:avLst/>
          </a:prstGeom>
        </p:spPr>
        <p:txBody>
          <a:bodyPr lIns="0" tIns="0" rIns="0" bIns="0" rtlCol="0" anchor="t">
            <a:spAutoFit/>
          </a:bodyPr>
          <a:lstStyle/>
          <a:p>
            <a:pPr marL="0" lvl="0" indent="0" algn="just">
              <a:lnSpc>
                <a:spcPts val="3497"/>
              </a:lnSpc>
              <a:spcBef>
                <a:spcPct val="0"/>
              </a:spcBef>
            </a:pPr>
            <a:r>
              <a:rPr lang="en-US" sz="2498" b="1">
                <a:gradFill>
                  <a:gsLst>
                    <a:gs pos="0">
                      <a:srgbClr val="51DACF">
                        <a:alpha val="100000"/>
                      </a:srgbClr>
                    </a:gs>
                    <a:gs pos="100000">
                      <a:srgbClr val="FFFFFF">
                        <a:alpha val="100000"/>
                      </a:srgbClr>
                    </a:gs>
                  </a:gsLst>
                  <a:lin ang="2700000"/>
                </a:gradFill>
                <a:latin typeface="HK Modular"/>
                <a:ea typeface="HK Modular"/>
                <a:cs typeface="HK Modular"/>
                <a:sym typeface="HK Modular"/>
              </a:rPr>
              <a:t>Performance Management</a:t>
            </a:r>
          </a:p>
        </p:txBody>
      </p:sp>
      <p:sp>
        <p:nvSpPr>
          <p:cNvPr id="16" name="TextBox 16"/>
          <p:cNvSpPr txBox="1"/>
          <p:nvPr/>
        </p:nvSpPr>
        <p:spPr>
          <a:xfrm>
            <a:off x="1028700" y="4294203"/>
            <a:ext cx="9110147" cy="711236"/>
          </a:xfrm>
          <a:prstGeom prst="rect">
            <a:avLst/>
          </a:prstGeom>
        </p:spPr>
        <p:txBody>
          <a:bodyPr lIns="0" tIns="0" rIns="0" bIns="0" rtlCol="0" anchor="t">
            <a:spAutoFit/>
          </a:bodyPr>
          <a:lstStyle/>
          <a:p>
            <a:pPr marL="0" lvl="0" indent="0" algn="just">
              <a:lnSpc>
                <a:spcPts val="2798"/>
              </a:lnSpc>
              <a:spcBef>
                <a:spcPct val="0"/>
              </a:spcBef>
            </a:pPr>
            <a:r>
              <a:rPr lang="en-US" sz="1998">
                <a:solidFill>
                  <a:srgbClr val="FFFFFF"/>
                </a:solidFill>
                <a:latin typeface="Poppins"/>
                <a:ea typeface="Poppins"/>
                <a:cs typeface="Poppins"/>
                <a:sym typeface="Poppins"/>
              </a:rPr>
              <a:t>Real-time hazard detection across mining zones using AI-powered sensors and predictive analytics to flag risks before incidents occur.</a:t>
            </a:r>
          </a:p>
        </p:txBody>
      </p:sp>
      <p:sp>
        <p:nvSpPr>
          <p:cNvPr id="17" name="TextBox 17"/>
          <p:cNvSpPr txBox="1"/>
          <p:nvPr/>
        </p:nvSpPr>
        <p:spPr>
          <a:xfrm>
            <a:off x="1028700" y="8547166"/>
            <a:ext cx="9110147" cy="711236"/>
          </a:xfrm>
          <a:prstGeom prst="rect">
            <a:avLst/>
          </a:prstGeom>
        </p:spPr>
        <p:txBody>
          <a:bodyPr lIns="0" tIns="0" rIns="0" bIns="0" rtlCol="0" anchor="t">
            <a:spAutoFit/>
          </a:bodyPr>
          <a:lstStyle/>
          <a:p>
            <a:pPr marL="0" lvl="0" indent="0" algn="just">
              <a:lnSpc>
                <a:spcPts val="2798"/>
              </a:lnSpc>
              <a:spcBef>
                <a:spcPct val="0"/>
              </a:spcBef>
            </a:pPr>
            <a:r>
              <a:rPr lang="en-US" sz="1998">
                <a:solidFill>
                  <a:srgbClr val="FFFFFF"/>
                </a:solidFill>
                <a:latin typeface="Poppins"/>
                <a:ea typeface="Poppins"/>
                <a:cs typeface="Poppins"/>
                <a:sym typeface="Poppins"/>
              </a:rPr>
              <a:t>Contractor and equipment optimization through data-driven KPI dashboards, maintenance scheduling, and operational benchmarking.</a:t>
            </a:r>
          </a:p>
        </p:txBody>
      </p:sp>
      <p:sp>
        <p:nvSpPr>
          <p:cNvPr id="18" name="TextBox 18"/>
          <p:cNvSpPr txBox="1"/>
          <p:nvPr/>
        </p:nvSpPr>
        <p:spPr>
          <a:xfrm>
            <a:off x="1028700" y="6420684"/>
            <a:ext cx="9110147" cy="711236"/>
          </a:xfrm>
          <a:prstGeom prst="rect">
            <a:avLst/>
          </a:prstGeom>
        </p:spPr>
        <p:txBody>
          <a:bodyPr lIns="0" tIns="0" rIns="0" bIns="0" rtlCol="0" anchor="t">
            <a:spAutoFit/>
          </a:bodyPr>
          <a:lstStyle/>
          <a:p>
            <a:pPr marL="0" lvl="0" indent="0" algn="just">
              <a:lnSpc>
                <a:spcPts val="2798"/>
              </a:lnSpc>
              <a:spcBef>
                <a:spcPct val="0"/>
              </a:spcBef>
            </a:pPr>
            <a:r>
              <a:rPr lang="en-US" sz="1998">
                <a:solidFill>
                  <a:srgbClr val="FFFFFF"/>
                </a:solidFill>
                <a:latin typeface="Poppins"/>
                <a:ea typeface="Poppins"/>
                <a:cs typeface="Poppins"/>
                <a:sym typeface="Poppins"/>
              </a:rPr>
              <a:t>Automated statutory reporting and audit trail generation ensuring continuous regulatory compliance with zero manual overhead.</a:t>
            </a:r>
          </a:p>
        </p:txBody>
      </p:sp>
      <p:sp>
        <p:nvSpPr>
          <p:cNvPr id="19" name="TextBox 19"/>
          <p:cNvSpPr txBox="1"/>
          <p:nvPr/>
        </p:nvSpPr>
        <p:spPr>
          <a:xfrm>
            <a:off x="1028700" y="5741301"/>
            <a:ext cx="6366721" cy="431845"/>
          </a:xfrm>
          <a:prstGeom prst="rect">
            <a:avLst/>
          </a:prstGeom>
        </p:spPr>
        <p:txBody>
          <a:bodyPr lIns="0" tIns="0" rIns="0" bIns="0" rtlCol="0" anchor="t">
            <a:spAutoFit/>
          </a:bodyPr>
          <a:lstStyle/>
          <a:p>
            <a:pPr marL="0" lvl="0" indent="0" algn="just">
              <a:lnSpc>
                <a:spcPts val="3497"/>
              </a:lnSpc>
              <a:spcBef>
                <a:spcPct val="0"/>
              </a:spcBef>
            </a:pPr>
            <a:r>
              <a:rPr lang="en-US" sz="2498" b="1">
                <a:gradFill>
                  <a:gsLst>
                    <a:gs pos="0">
                      <a:srgbClr val="51DACF">
                        <a:alpha val="100000"/>
                      </a:srgbClr>
                    </a:gs>
                    <a:gs pos="100000">
                      <a:srgbClr val="FFFFFF">
                        <a:alpha val="100000"/>
                      </a:srgbClr>
                    </a:gs>
                  </a:gsLst>
                  <a:lin ang="2700000"/>
                </a:gradFill>
                <a:latin typeface="HK Modular"/>
                <a:ea typeface="HK Modular"/>
                <a:cs typeface="HK Modular"/>
                <a:sym typeface="HK Modular"/>
              </a:rPr>
              <a:t>Compliance Tracking</a:t>
            </a:r>
          </a:p>
        </p:txBody>
      </p:sp>
      <p:sp>
        <p:nvSpPr>
          <p:cNvPr id="20" name="TextBox 20"/>
          <p:cNvSpPr txBox="1"/>
          <p:nvPr/>
        </p:nvSpPr>
        <p:spPr>
          <a:xfrm>
            <a:off x="15446772" y="962025"/>
            <a:ext cx="781325" cy="879520"/>
          </a:xfrm>
          <a:prstGeom prst="rect">
            <a:avLst/>
          </a:prstGeom>
        </p:spPr>
        <p:txBody>
          <a:bodyPr lIns="0" tIns="0" rIns="0" bIns="0" rtlCol="0" anchor="t">
            <a:spAutoFit/>
          </a:bodyPr>
          <a:lstStyle/>
          <a:p>
            <a:pPr marL="0" lvl="0" indent="0" algn="l">
              <a:lnSpc>
                <a:spcPts val="3497"/>
              </a:lnSpc>
              <a:spcBef>
                <a:spcPct val="0"/>
              </a:spcBef>
            </a:pPr>
            <a:r>
              <a:rPr lang="en-US" sz="2498">
                <a:solidFill>
                  <a:srgbClr val="FFFFFF"/>
                </a:solidFill>
                <a:latin typeface="Poppins"/>
                <a:ea typeface="Poppins"/>
                <a:cs typeface="Poppins"/>
                <a:sym typeface="Poppins"/>
              </a:rPr>
              <a:t>Next Slide</a:t>
            </a:r>
          </a:p>
        </p:txBody>
      </p:sp>
      <p:grpSp>
        <p:nvGrpSpPr>
          <p:cNvPr id="21" name="Group 21"/>
          <p:cNvGrpSpPr/>
          <p:nvPr/>
        </p:nvGrpSpPr>
        <p:grpSpPr>
          <a:xfrm>
            <a:off x="11889525" y="1028700"/>
            <a:ext cx="1885167" cy="2193649"/>
            <a:chOff x="0" y="0"/>
            <a:chExt cx="698500" cy="812800"/>
          </a:xfrm>
        </p:grpSpPr>
        <p:sp>
          <p:nvSpPr>
            <p:cNvPr id="22" name="Freeform 22"/>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28575" cap="sq">
              <a:solidFill>
                <a:srgbClr val="FFFFFF"/>
              </a:solidFill>
              <a:prstDash val="solid"/>
              <a:miter/>
            </a:ln>
          </p:spPr>
        </p:sp>
        <p:sp>
          <p:nvSpPr>
            <p:cNvPr id="23" name="TextBox 23"/>
            <p:cNvSpPr txBox="1"/>
            <p:nvPr/>
          </p:nvSpPr>
          <p:spPr>
            <a:xfrm>
              <a:off x="0" y="73025"/>
              <a:ext cx="698500" cy="600075"/>
            </a:xfrm>
            <a:prstGeom prst="rect">
              <a:avLst/>
            </a:prstGeom>
          </p:spPr>
          <p:txBody>
            <a:bodyPr lIns="50800" tIns="50800" rIns="50800" bIns="50800" rtlCol="0" anchor="ctr"/>
            <a:lstStyle/>
            <a:p>
              <a:pPr marL="0" lvl="0" indent="0" algn="ctr">
                <a:lnSpc>
                  <a:spcPts val="3499"/>
                </a:lnSpc>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92C">
                <a:alpha val="100000"/>
              </a:srgbClr>
            </a:gs>
            <a:gs pos="100000">
              <a:srgbClr val="00000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009852" y="1028700"/>
            <a:ext cx="10590603" cy="10109212"/>
          </a:xfrm>
          <a:custGeom>
            <a:avLst/>
            <a:gdLst/>
            <a:ahLst/>
            <a:cxnLst/>
            <a:rect l="l" t="t" r="r" b="b"/>
            <a:pathLst>
              <a:path w="10590603" h="10109212">
                <a:moveTo>
                  <a:pt x="0" y="0"/>
                </a:moveTo>
                <a:lnTo>
                  <a:pt x="10590603" y="0"/>
                </a:lnTo>
                <a:lnTo>
                  <a:pt x="10590603" y="10109212"/>
                </a:lnTo>
                <a:lnTo>
                  <a:pt x="0" y="10109212"/>
                </a:lnTo>
                <a:lnTo>
                  <a:pt x="0" y="0"/>
                </a:lnTo>
                <a:close/>
              </a:path>
            </a:pathLst>
          </a:custGeom>
          <a:blipFill>
            <a:blip>
              <a:alphaModFix amt="2000"/>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1707249" y="-850912"/>
            <a:ext cx="10590603" cy="10109212"/>
          </a:xfrm>
          <a:custGeom>
            <a:avLst/>
            <a:gdLst/>
            <a:ahLst/>
            <a:cxnLst/>
            <a:rect l="l" t="t" r="r" b="b"/>
            <a:pathLst>
              <a:path w="10590603" h="10109212">
                <a:moveTo>
                  <a:pt x="10590603" y="10109212"/>
                </a:moveTo>
                <a:lnTo>
                  <a:pt x="0" y="10109212"/>
                </a:lnTo>
                <a:lnTo>
                  <a:pt x="0" y="0"/>
                </a:lnTo>
                <a:lnTo>
                  <a:pt x="10590603" y="0"/>
                </a:lnTo>
                <a:lnTo>
                  <a:pt x="10590603" y="10109212"/>
                </a:lnTo>
                <a:close/>
              </a:path>
            </a:pathLst>
          </a:custGeom>
          <a:blipFill>
            <a:blip>
              <a:alphaModFix amt="2000"/>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a:off x="16560686" y="1028700"/>
            <a:ext cx="698614" cy="812932"/>
            <a:chOff x="0" y="0"/>
            <a:chExt cx="698500" cy="812800"/>
          </a:xfrm>
        </p:grpSpPr>
        <p:sp>
          <p:nvSpPr>
            <p:cNvPr id="5" name="Freeform 5"/>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28575" cap="sq">
              <a:solidFill>
                <a:srgbClr val="FFFFFF"/>
              </a:solidFill>
              <a:prstDash val="solid"/>
              <a:miter/>
            </a:ln>
          </p:spPr>
        </p:sp>
        <p:sp>
          <p:nvSpPr>
            <p:cNvPr id="6" name="TextBox 6"/>
            <p:cNvSpPr txBox="1"/>
            <p:nvPr/>
          </p:nvSpPr>
          <p:spPr>
            <a:xfrm>
              <a:off x="0" y="73025"/>
              <a:ext cx="698500" cy="600075"/>
            </a:xfrm>
            <a:prstGeom prst="rect">
              <a:avLst/>
            </a:prstGeom>
          </p:spPr>
          <p:txBody>
            <a:bodyPr lIns="50800" tIns="50800" rIns="50800" bIns="50800" rtlCol="0" anchor="ctr"/>
            <a:lstStyle/>
            <a:p>
              <a:pPr marL="0" lvl="0" indent="0" algn="ctr">
                <a:lnSpc>
                  <a:spcPts val="3499"/>
                </a:lnSpc>
              </a:pPr>
              <a:endParaRPr/>
            </a:p>
          </p:txBody>
        </p:sp>
      </p:grpSp>
      <p:sp>
        <p:nvSpPr>
          <p:cNvPr id="7" name="Freeform 7"/>
          <p:cNvSpPr/>
          <p:nvPr/>
        </p:nvSpPr>
        <p:spPr>
          <a:xfrm>
            <a:off x="16747571" y="1286550"/>
            <a:ext cx="324844" cy="297232"/>
          </a:xfrm>
          <a:custGeom>
            <a:avLst/>
            <a:gdLst/>
            <a:ahLst/>
            <a:cxnLst/>
            <a:rect l="l" t="t" r="r" b="b"/>
            <a:pathLst>
              <a:path w="324844" h="297232">
                <a:moveTo>
                  <a:pt x="0" y="0"/>
                </a:moveTo>
                <a:lnTo>
                  <a:pt x="324844" y="0"/>
                </a:lnTo>
                <a:lnTo>
                  <a:pt x="324844" y="297232"/>
                </a:lnTo>
                <a:lnTo>
                  <a:pt x="0" y="29723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1028700" y="962025"/>
            <a:ext cx="9640733" cy="498348"/>
          </a:xfrm>
          <a:prstGeom prst="rect">
            <a:avLst/>
          </a:prstGeom>
        </p:spPr>
        <p:txBody>
          <a:bodyPr lIns="0" tIns="0" rIns="0" bIns="0" rtlCol="0" anchor="t">
            <a:spAutoFit/>
          </a:bodyPr>
          <a:lstStyle/>
          <a:p>
            <a:pPr marL="0" lvl="0" indent="0" algn="l">
              <a:lnSpc>
                <a:spcPts val="4032"/>
              </a:lnSpc>
              <a:spcBef>
                <a:spcPct val="0"/>
              </a:spcBef>
            </a:pPr>
            <a:r>
              <a:rPr lang="en-US" sz="2880" b="1">
                <a:gradFill>
                  <a:gsLst>
                    <a:gs pos="0">
                      <a:srgbClr val="51DACF">
                        <a:alpha val="100000"/>
                      </a:srgbClr>
                    </a:gs>
                    <a:gs pos="100000">
                      <a:srgbClr val="FFFFFF">
                        <a:alpha val="100000"/>
                      </a:srgbClr>
                    </a:gs>
                  </a:gsLst>
                  <a:lin ang="2700000"/>
                </a:gradFill>
                <a:latin typeface="HK Modular"/>
                <a:ea typeface="HK Modular"/>
                <a:cs typeface="HK Modular"/>
                <a:sym typeface="HK Modular"/>
              </a:rPr>
              <a:t>REAL WORLD IMPACT &amp; OUTCOMES</a:t>
            </a:r>
          </a:p>
        </p:txBody>
      </p:sp>
      <p:sp>
        <p:nvSpPr>
          <p:cNvPr id="9" name="TextBox 9"/>
          <p:cNvSpPr txBox="1"/>
          <p:nvPr/>
        </p:nvSpPr>
        <p:spPr>
          <a:xfrm>
            <a:off x="7637424" y="3652919"/>
            <a:ext cx="9110147" cy="198120"/>
          </a:xfrm>
          <a:prstGeom prst="rect">
            <a:avLst/>
          </a:prstGeom>
        </p:spPr>
        <p:txBody>
          <a:bodyPr lIns="0" tIns="0" rIns="0" bIns="0" rtlCol="0" anchor="t">
            <a:spAutoFit/>
          </a:bodyPr>
          <a:lstStyle/>
          <a:p>
            <a:pPr marL="0" lvl="0" indent="0" algn="just">
              <a:lnSpc>
                <a:spcPts val="1679"/>
              </a:lnSpc>
              <a:spcBef>
                <a:spcPct val="0"/>
              </a:spcBef>
            </a:pPr>
            <a:r>
              <a:rPr lang="en-US" sz="1200" b="1">
                <a:gradFill>
                  <a:gsLst>
                    <a:gs pos="0">
                      <a:srgbClr val="51DACF">
                        <a:alpha val="100000"/>
                      </a:srgbClr>
                    </a:gs>
                    <a:gs pos="100000">
                      <a:srgbClr val="FFFFFF">
                        <a:alpha val="100000"/>
                      </a:srgbClr>
                    </a:gs>
                  </a:gsLst>
                  <a:lin ang="2700000"/>
                </a:gradFill>
                <a:latin typeface="HK Modular"/>
                <a:ea typeface="HK Modular"/>
                <a:cs typeface="HK Modular"/>
                <a:sym typeface="HK Modular"/>
              </a:rPr>
              <a:t>Reduced Governance Risks Through Early Detection</a:t>
            </a:r>
          </a:p>
        </p:txBody>
      </p:sp>
      <p:sp>
        <p:nvSpPr>
          <p:cNvPr id="10" name="TextBox 10"/>
          <p:cNvSpPr txBox="1"/>
          <p:nvPr/>
        </p:nvSpPr>
        <p:spPr>
          <a:xfrm>
            <a:off x="7637424" y="7905882"/>
            <a:ext cx="5018150" cy="407670"/>
          </a:xfrm>
          <a:prstGeom prst="rect">
            <a:avLst/>
          </a:prstGeom>
        </p:spPr>
        <p:txBody>
          <a:bodyPr lIns="0" tIns="0" rIns="0" bIns="0" rtlCol="0" anchor="t">
            <a:spAutoFit/>
          </a:bodyPr>
          <a:lstStyle/>
          <a:p>
            <a:pPr marL="0" lvl="0" indent="0" algn="just">
              <a:lnSpc>
                <a:spcPts val="1679"/>
              </a:lnSpc>
              <a:spcBef>
                <a:spcPct val="0"/>
              </a:spcBef>
            </a:pPr>
            <a:r>
              <a:rPr lang="en-US" sz="1200" b="1">
                <a:gradFill>
                  <a:gsLst>
                    <a:gs pos="0">
                      <a:srgbClr val="51DACF">
                        <a:alpha val="100000"/>
                      </a:srgbClr>
                    </a:gs>
                    <a:gs pos="100000">
                      <a:srgbClr val="FFFFFF">
                        <a:alpha val="100000"/>
                      </a:srgbClr>
                    </a:gs>
                  </a:gsLst>
                  <a:lin ang="2700000"/>
                </a:gradFill>
                <a:latin typeface="HK Modular"/>
                <a:ea typeface="HK Modular"/>
                <a:cs typeface="HK Modular"/>
                <a:sym typeface="HK Modular"/>
              </a:rPr>
              <a:t>Enhanced Decision-Making for Mine Management</a:t>
            </a:r>
          </a:p>
        </p:txBody>
      </p:sp>
      <p:sp>
        <p:nvSpPr>
          <p:cNvPr id="11" name="TextBox 11"/>
          <p:cNvSpPr txBox="1"/>
          <p:nvPr/>
        </p:nvSpPr>
        <p:spPr>
          <a:xfrm>
            <a:off x="7637424" y="4322778"/>
            <a:ext cx="9621876" cy="417195"/>
          </a:xfrm>
          <a:prstGeom prst="rect">
            <a:avLst/>
          </a:prstGeom>
        </p:spPr>
        <p:txBody>
          <a:bodyPr lIns="0" tIns="0" rIns="0" bIns="0" rtlCol="0" anchor="t">
            <a:spAutoFit/>
          </a:bodyPr>
          <a:lstStyle/>
          <a:p>
            <a:pPr marL="0" lvl="0" indent="0" algn="just">
              <a:lnSpc>
                <a:spcPts val="1679"/>
              </a:lnSpc>
              <a:spcBef>
                <a:spcPct val="0"/>
              </a:spcBef>
            </a:pPr>
            <a:r>
              <a:rPr lang="en-US" sz="1200">
                <a:solidFill>
                  <a:srgbClr val="FFFFFF"/>
                </a:solidFill>
                <a:latin typeface="Poppins"/>
                <a:ea typeface="Poppins"/>
                <a:cs typeface="Poppins"/>
                <a:sym typeface="Poppins"/>
              </a:rPr>
              <a:t>MineGuard Nexus leverages AI-driven anomaly detection to surface emerging compliance risks weeks before they escalate, enabling proactive intervention and significantly reducing statutory violations across coal mining operations.</a:t>
            </a:r>
          </a:p>
        </p:txBody>
      </p:sp>
      <p:sp>
        <p:nvSpPr>
          <p:cNvPr id="12" name="TextBox 12"/>
          <p:cNvSpPr txBox="1"/>
          <p:nvPr/>
        </p:nvSpPr>
        <p:spPr>
          <a:xfrm>
            <a:off x="7637424" y="8575741"/>
            <a:ext cx="9621876" cy="417195"/>
          </a:xfrm>
          <a:prstGeom prst="rect">
            <a:avLst/>
          </a:prstGeom>
        </p:spPr>
        <p:txBody>
          <a:bodyPr lIns="0" tIns="0" rIns="0" bIns="0" rtlCol="0" anchor="t">
            <a:spAutoFit/>
          </a:bodyPr>
          <a:lstStyle/>
          <a:p>
            <a:pPr marL="0" lvl="0" indent="0" algn="just">
              <a:lnSpc>
                <a:spcPts val="1679"/>
              </a:lnSpc>
              <a:spcBef>
                <a:spcPct val="0"/>
              </a:spcBef>
            </a:pPr>
            <a:r>
              <a:rPr lang="en-US" sz="1200">
                <a:solidFill>
                  <a:srgbClr val="FFFFFF"/>
                </a:solidFill>
                <a:latin typeface="Poppins"/>
                <a:ea typeface="Poppins"/>
                <a:cs typeface="Poppins"/>
                <a:sym typeface="Poppins"/>
              </a:rPr>
              <a:t>Unified governance dashboards consolidate fragmented data from inspections, equipment logs, contractor records, and environmental sensors — empowering mine managers with actionable intelligence to prioritize critical interventions.</a:t>
            </a:r>
          </a:p>
        </p:txBody>
      </p:sp>
      <p:sp>
        <p:nvSpPr>
          <p:cNvPr id="13" name="TextBox 13"/>
          <p:cNvSpPr txBox="1"/>
          <p:nvPr/>
        </p:nvSpPr>
        <p:spPr>
          <a:xfrm>
            <a:off x="7637424" y="6449259"/>
            <a:ext cx="9621876" cy="417195"/>
          </a:xfrm>
          <a:prstGeom prst="rect">
            <a:avLst/>
          </a:prstGeom>
        </p:spPr>
        <p:txBody>
          <a:bodyPr lIns="0" tIns="0" rIns="0" bIns="0" rtlCol="0" anchor="t">
            <a:spAutoFit/>
          </a:bodyPr>
          <a:lstStyle/>
          <a:p>
            <a:pPr marL="0" lvl="0" indent="0" algn="just">
              <a:lnSpc>
                <a:spcPts val="1679"/>
              </a:lnSpc>
              <a:spcBef>
                <a:spcPct val="0"/>
              </a:spcBef>
            </a:pPr>
            <a:r>
              <a:rPr lang="en-US" sz="1200">
                <a:solidFill>
                  <a:srgbClr val="FFFFFF"/>
                </a:solidFill>
                <a:latin typeface="Poppins"/>
                <a:ea typeface="Poppins"/>
                <a:cs typeface="Poppins"/>
                <a:sym typeface="Poppins"/>
              </a:rPr>
              <a:t>Automated inspection scheduling, corrective action tracking, and real-time regulatory alerts eliminate manual bottlenecks — cutting compliance processing time and ensuring audit-ready documentation at all times.</a:t>
            </a:r>
          </a:p>
        </p:txBody>
      </p:sp>
      <p:sp>
        <p:nvSpPr>
          <p:cNvPr id="14" name="TextBox 14"/>
          <p:cNvSpPr txBox="1"/>
          <p:nvPr/>
        </p:nvSpPr>
        <p:spPr>
          <a:xfrm>
            <a:off x="7637424" y="5779401"/>
            <a:ext cx="8426619" cy="198120"/>
          </a:xfrm>
          <a:prstGeom prst="rect">
            <a:avLst/>
          </a:prstGeom>
        </p:spPr>
        <p:txBody>
          <a:bodyPr lIns="0" tIns="0" rIns="0" bIns="0" rtlCol="0" anchor="t">
            <a:spAutoFit/>
          </a:bodyPr>
          <a:lstStyle/>
          <a:p>
            <a:pPr marL="0" lvl="0" indent="0" algn="just">
              <a:lnSpc>
                <a:spcPts val="1679"/>
              </a:lnSpc>
              <a:spcBef>
                <a:spcPct val="0"/>
              </a:spcBef>
            </a:pPr>
            <a:r>
              <a:rPr lang="en-US" sz="1200" b="1">
                <a:gradFill>
                  <a:gsLst>
                    <a:gs pos="0">
                      <a:srgbClr val="51DACF">
                        <a:alpha val="100000"/>
                      </a:srgbClr>
                    </a:gs>
                    <a:gs pos="100000">
                      <a:srgbClr val="FFFFFF">
                        <a:alpha val="100000"/>
                      </a:srgbClr>
                    </a:gs>
                  </a:gsLst>
                  <a:lin ang="2700000"/>
                </a:gradFill>
                <a:latin typeface="HK Modular"/>
                <a:ea typeface="HK Modular"/>
                <a:cs typeface="HK Modular"/>
                <a:sym typeface="HK Modular"/>
              </a:rPr>
              <a:t>Streamlined Compliance Workflows</a:t>
            </a:r>
          </a:p>
        </p:txBody>
      </p:sp>
      <p:sp>
        <p:nvSpPr>
          <p:cNvPr id="15" name="TextBox 15"/>
          <p:cNvSpPr txBox="1"/>
          <p:nvPr/>
        </p:nvSpPr>
        <p:spPr>
          <a:xfrm>
            <a:off x="15446772" y="1000125"/>
            <a:ext cx="781325" cy="207645"/>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Poppins"/>
                <a:ea typeface="Poppins"/>
                <a:cs typeface="Poppins"/>
                <a:sym typeface="Poppins"/>
              </a:rPr>
              <a:t>Next Slide</a:t>
            </a:r>
          </a:p>
        </p:txBody>
      </p:sp>
      <p:grpSp>
        <p:nvGrpSpPr>
          <p:cNvPr id="16" name="Group 16"/>
          <p:cNvGrpSpPr/>
          <p:nvPr/>
        </p:nvGrpSpPr>
        <p:grpSpPr>
          <a:xfrm>
            <a:off x="13852967" y="2019267"/>
            <a:ext cx="673239" cy="783406"/>
            <a:chOff x="0" y="0"/>
            <a:chExt cx="698500" cy="812800"/>
          </a:xfrm>
        </p:grpSpPr>
        <p:sp>
          <p:nvSpPr>
            <p:cNvPr id="17" name="Freeform 17"/>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28575" cap="sq">
              <a:solidFill>
                <a:srgbClr val="FFFFFF"/>
              </a:solidFill>
              <a:prstDash val="solid"/>
              <a:miter/>
            </a:ln>
          </p:spPr>
        </p:sp>
        <p:sp>
          <p:nvSpPr>
            <p:cNvPr id="18" name="TextBox 18"/>
            <p:cNvSpPr txBox="1"/>
            <p:nvPr/>
          </p:nvSpPr>
          <p:spPr>
            <a:xfrm>
              <a:off x="0" y="73025"/>
              <a:ext cx="698500" cy="600075"/>
            </a:xfrm>
            <a:prstGeom prst="rect">
              <a:avLst/>
            </a:prstGeom>
          </p:spPr>
          <p:txBody>
            <a:bodyPr lIns="50800" tIns="50800" rIns="50800" bIns="50800" rtlCol="0" anchor="ctr"/>
            <a:lstStyle/>
            <a:p>
              <a:pPr marL="0" lvl="0" indent="0" algn="ctr">
                <a:lnSpc>
                  <a:spcPts val="3499"/>
                </a:lnSpc>
              </a:pPr>
              <a:endParaRPr/>
            </a:p>
          </p:txBody>
        </p:sp>
      </p:grpSp>
      <p:grpSp>
        <p:nvGrpSpPr>
          <p:cNvPr id="19" name="Group 19"/>
          <p:cNvGrpSpPr/>
          <p:nvPr/>
        </p:nvGrpSpPr>
        <p:grpSpPr>
          <a:xfrm>
            <a:off x="11688199" y="1028700"/>
            <a:ext cx="1244203" cy="1447800"/>
            <a:chOff x="0" y="0"/>
            <a:chExt cx="698500" cy="812800"/>
          </a:xfrm>
        </p:grpSpPr>
        <p:sp>
          <p:nvSpPr>
            <p:cNvPr id="20" name="Freeform 20"/>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28575" cap="sq">
              <a:solidFill>
                <a:srgbClr val="FFFFFF"/>
              </a:solidFill>
              <a:prstDash val="solid"/>
              <a:miter/>
            </a:ln>
          </p:spPr>
        </p:sp>
        <p:sp>
          <p:nvSpPr>
            <p:cNvPr id="21" name="TextBox 21"/>
            <p:cNvSpPr txBox="1"/>
            <p:nvPr/>
          </p:nvSpPr>
          <p:spPr>
            <a:xfrm>
              <a:off x="0" y="73025"/>
              <a:ext cx="698500" cy="600075"/>
            </a:xfrm>
            <a:prstGeom prst="rect">
              <a:avLst/>
            </a:prstGeom>
          </p:spPr>
          <p:txBody>
            <a:bodyPr lIns="50800" tIns="50800" rIns="50800" bIns="50800" rtlCol="0" anchor="ctr"/>
            <a:lstStyle/>
            <a:p>
              <a:pPr marL="0" lvl="0" indent="0" algn="ctr">
                <a:lnSpc>
                  <a:spcPts val="3499"/>
                </a:lnSpc>
              </a:pPr>
              <a:endParaRPr/>
            </a:p>
          </p:txBody>
        </p:sp>
      </p:grpSp>
      <p:grpSp>
        <p:nvGrpSpPr>
          <p:cNvPr id="22" name="Group 22"/>
          <p:cNvGrpSpPr/>
          <p:nvPr/>
        </p:nvGrpSpPr>
        <p:grpSpPr>
          <a:xfrm>
            <a:off x="1028700" y="3671969"/>
            <a:ext cx="4800753" cy="5586331"/>
            <a:chOff x="0" y="0"/>
            <a:chExt cx="698500" cy="812800"/>
          </a:xfrm>
        </p:grpSpPr>
        <p:sp>
          <p:nvSpPr>
            <p:cNvPr id="23" name="Freeform 23"/>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blipFill>
              <a:blip r:embed="rId4"/>
              <a:stretch>
                <a:fillRect t="-182" b="-182"/>
              </a:stretch>
            </a:blipFill>
            <a:ln w="38100" cap="sq">
              <a:solidFill>
                <a:srgbClr val="FFFFFF"/>
              </a:solidFill>
              <a:prstDash val="solid"/>
              <a:miter/>
            </a:ln>
          </p:spPr>
        </p:sp>
      </p:grpSp>
      <p:grpSp>
        <p:nvGrpSpPr>
          <p:cNvPr id="24" name="Group 24"/>
          <p:cNvGrpSpPr/>
          <p:nvPr/>
        </p:nvGrpSpPr>
        <p:grpSpPr>
          <a:xfrm>
            <a:off x="6260176" y="6103184"/>
            <a:ext cx="622102" cy="723900"/>
            <a:chOff x="0" y="0"/>
            <a:chExt cx="698500" cy="812800"/>
          </a:xfrm>
        </p:grpSpPr>
        <p:sp>
          <p:nvSpPr>
            <p:cNvPr id="25" name="Freeform 25"/>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28575" cap="sq">
              <a:solidFill>
                <a:srgbClr val="FFFFFF"/>
              </a:solidFill>
              <a:prstDash val="solid"/>
              <a:miter/>
            </a:ln>
          </p:spPr>
        </p:sp>
        <p:sp>
          <p:nvSpPr>
            <p:cNvPr id="26" name="TextBox 26"/>
            <p:cNvSpPr txBox="1"/>
            <p:nvPr/>
          </p:nvSpPr>
          <p:spPr>
            <a:xfrm>
              <a:off x="0" y="73025"/>
              <a:ext cx="698500" cy="600075"/>
            </a:xfrm>
            <a:prstGeom prst="rect">
              <a:avLst/>
            </a:prstGeom>
          </p:spPr>
          <p:txBody>
            <a:bodyPr lIns="50800" tIns="50800" rIns="50800" bIns="50800" rtlCol="0" anchor="ctr"/>
            <a:lstStyle/>
            <a:p>
              <a:pPr marL="0" lvl="0" indent="0" algn="ctr">
                <a:lnSpc>
                  <a:spcPts val="3499"/>
                </a:lnSpc>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92C">
                <a:alpha val="100000"/>
              </a:srgbClr>
            </a:gs>
            <a:gs pos="100000">
              <a:srgbClr val="00000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009852" y="1028700"/>
            <a:ext cx="10590603" cy="10109212"/>
          </a:xfrm>
          <a:custGeom>
            <a:avLst/>
            <a:gdLst/>
            <a:ahLst/>
            <a:cxnLst/>
            <a:rect l="l" t="t" r="r" b="b"/>
            <a:pathLst>
              <a:path w="10590603" h="10109212">
                <a:moveTo>
                  <a:pt x="0" y="0"/>
                </a:moveTo>
                <a:lnTo>
                  <a:pt x="10590603" y="0"/>
                </a:lnTo>
                <a:lnTo>
                  <a:pt x="10590603" y="10109212"/>
                </a:lnTo>
                <a:lnTo>
                  <a:pt x="0" y="10109212"/>
                </a:lnTo>
                <a:lnTo>
                  <a:pt x="0" y="0"/>
                </a:lnTo>
                <a:close/>
              </a:path>
            </a:pathLst>
          </a:custGeom>
          <a:blipFill>
            <a:blip>
              <a:alphaModFix amt="2000"/>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1707249" y="-850912"/>
            <a:ext cx="10590603" cy="10109212"/>
          </a:xfrm>
          <a:custGeom>
            <a:avLst/>
            <a:gdLst/>
            <a:ahLst/>
            <a:cxnLst/>
            <a:rect l="l" t="t" r="r" b="b"/>
            <a:pathLst>
              <a:path w="10590603" h="10109212">
                <a:moveTo>
                  <a:pt x="10590603" y="10109212"/>
                </a:moveTo>
                <a:lnTo>
                  <a:pt x="0" y="10109212"/>
                </a:lnTo>
                <a:lnTo>
                  <a:pt x="0" y="0"/>
                </a:lnTo>
                <a:lnTo>
                  <a:pt x="10590603" y="0"/>
                </a:lnTo>
                <a:lnTo>
                  <a:pt x="10590603" y="10109212"/>
                </a:lnTo>
                <a:close/>
              </a:path>
            </a:pathLst>
          </a:custGeom>
          <a:blipFill>
            <a:blip>
              <a:alphaModFix amt="2000"/>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a:off x="7323770" y="1028700"/>
            <a:ext cx="322022" cy="374716"/>
            <a:chOff x="0" y="0"/>
            <a:chExt cx="698500" cy="812800"/>
          </a:xfrm>
        </p:grpSpPr>
        <p:sp>
          <p:nvSpPr>
            <p:cNvPr id="5" name="Freeform 5"/>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51DACF">
                    <a:alpha val="100000"/>
                  </a:srgbClr>
                </a:gs>
                <a:gs pos="100000">
                  <a:srgbClr val="FFFFFF">
                    <a:alpha val="100000"/>
                  </a:srgbClr>
                </a:gs>
              </a:gsLst>
              <a:lin ang="2700000"/>
            </a:gradFill>
            <a:ln w="28575" cap="sq">
              <a:solidFill>
                <a:srgbClr val="FFFFFF"/>
              </a:solidFill>
              <a:prstDash val="solid"/>
              <a:miter/>
            </a:ln>
          </p:spPr>
        </p:sp>
        <p:sp>
          <p:nvSpPr>
            <p:cNvPr id="6" name="TextBox 6"/>
            <p:cNvSpPr txBox="1"/>
            <p:nvPr/>
          </p:nvSpPr>
          <p:spPr>
            <a:xfrm>
              <a:off x="0" y="73025"/>
              <a:ext cx="698500" cy="600075"/>
            </a:xfrm>
            <a:prstGeom prst="rect">
              <a:avLst/>
            </a:prstGeom>
          </p:spPr>
          <p:txBody>
            <a:bodyPr lIns="50800" tIns="50800" rIns="50800" bIns="50800" rtlCol="0" anchor="ctr"/>
            <a:lstStyle/>
            <a:p>
              <a:pPr marL="0" lvl="0" indent="0" algn="ctr">
                <a:lnSpc>
                  <a:spcPts val="3499"/>
                </a:lnSpc>
              </a:pPr>
              <a:endParaRPr/>
            </a:p>
          </p:txBody>
        </p:sp>
      </p:grpSp>
      <p:sp>
        <p:nvSpPr>
          <p:cNvPr id="7" name="TextBox 7"/>
          <p:cNvSpPr txBox="1"/>
          <p:nvPr/>
        </p:nvSpPr>
        <p:spPr>
          <a:xfrm>
            <a:off x="7883384" y="962025"/>
            <a:ext cx="3080846" cy="1755820"/>
          </a:xfrm>
          <a:prstGeom prst="rect">
            <a:avLst/>
          </a:prstGeom>
        </p:spPr>
        <p:txBody>
          <a:bodyPr lIns="0" tIns="0" rIns="0" bIns="0" rtlCol="0" anchor="t">
            <a:spAutoFit/>
          </a:bodyPr>
          <a:lstStyle/>
          <a:p>
            <a:pPr marL="0" lvl="0" indent="0" algn="l">
              <a:lnSpc>
                <a:spcPts val="3497"/>
              </a:lnSpc>
              <a:spcBef>
                <a:spcPct val="0"/>
              </a:spcBef>
            </a:pPr>
            <a:r>
              <a:rPr lang="en-US" sz="2498">
                <a:solidFill>
                  <a:srgbClr val="FFFFFF"/>
                </a:solidFill>
                <a:latin typeface="Poppins"/>
                <a:ea typeface="Poppins"/>
                <a:cs typeface="Poppins"/>
                <a:sym typeface="Poppins"/>
              </a:rPr>
              <a:t>S.I.G.M.A — Smart Integrated Governance for Mining Assets</a:t>
            </a:r>
          </a:p>
        </p:txBody>
      </p:sp>
      <p:sp>
        <p:nvSpPr>
          <p:cNvPr id="8" name="TextBox 8"/>
          <p:cNvSpPr txBox="1"/>
          <p:nvPr/>
        </p:nvSpPr>
        <p:spPr>
          <a:xfrm>
            <a:off x="2855371" y="5799677"/>
            <a:ext cx="12651370" cy="550926"/>
          </a:xfrm>
          <a:prstGeom prst="rect">
            <a:avLst/>
          </a:prstGeom>
        </p:spPr>
        <p:txBody>
          <a:bodyPr lIns="0" tIns="0" rIns="0" bIns="0" rtlCol="0" anchor="t">
            <a:spAutoFit/>
          </a:bodyPr>
          <a:lstStyle/>
          <a:p>
            <a:pPr marL="0" lvl="0" indent="0" algn="ctr">
              <a:lnSpc>
                <a:spcPts val="2183"/>
              </a:lnSpc>
              <a:spcBef>
                <a:spcPct val="0"/>
              </a:spcBef>
            </a:pPr>
            <a:r>
              <a:rPr lang="en-US" sz="1559">
                <a:solidFill>
                  <a:srgbClr val="FFFFFF"/>
                </a:solidFill>
                <a:latin typeface="Poppins"/>
                <a:ea typeface="Poppins"/>
                <a:cs typeface="Poppins"/>
                <a:sym typeface="Poppins"/>
              </a:rPr>
              <a:t>Transforming Coal Mine Governance through AI-Powered Intelligence.</a:t>
            </a:r>
          </a:p>
          <a:p>
            <a:pPr marL="0" lvl="0" indent="0" algn="ctr">
              <a:lnSpc>
                <a:spcPts val="2183"/>
              </a:lnSpc>
              <a:spcBef>
                <a:spcPct val="0"/>
              </a:spcBef>
            </a:pPr>
            <a:r>
              <a:rPr lang="en-US" sz="1559">
                <a:solidFill>
                  <a:srgbClr val="FFFFFF"/>
                </a:solidFill>
                <a:latin typeface="Poppins"/>
                <a:ea typeface="Poppins"/>
                <a:cs typeface="Poppins"/>
                <a:sym typeface="Poppins"/>
              </a:rPr>
              <a:t>Predict • Simulate • Prevent</a:t>
            </a:r>
          </a:p>
        </p:txBody>
      </p:sp>
      <p:sp>
        <p:nvSpPr>
          <p:cNvPr id="9" name="TextBox 9"/>
          <p:cNvSpPr txBox="1"/>
          <p:nvPr/>
        </p:nvSpPr>
        <p:spPr>
          <a:xfrm>
            <a:off x="2855371" y="3438871"/>
            <a:ext cx="12651370" cy="1344993"/>
          </a:xfrm>
          <a:prstGeom prst="rect">
            <a:avLst/>
          </a:prstGeom>
        </p:spPr>
        <p:txBody>
          <a:bodyPr lIns="0" tIns="0" rIns="0" bIns="0" rtlCol="0" anchor="t">
            <a:spAutoFit/>
          </a:bodyPr>
          <a:lstStyle/>
          <a:p>
            <a:pPr marL="0" lvl="0" indent="0" algn="ctr">
              <a:lnSpc>
                <a:spcPts val="10916"/>
              </a:lnSpc>
              <a:spcBef>
                <a:spcPct val="0"/>
              </a:spcBef>
            </a:pPr>
            <a:r>
              <a:rPr lang="en-US" sz="7797" b="1">
                <a:gradFill>
                  <a:gsLst>
                    <a:gs pos="0">
                      <a:srgbClr val="51DACF">
                        <a:alpha val="100000"/>
                      </a:srgbClr>
                    </a:gs>
                    <a:gs pos="100000">
                      <a:srgbClr val="FFFFFF">
                        <a:alpha val="100000"/>
                      </a:srgbClr>
                    </a:gs>
                  </a:gsLst>
                  <a:lin ang="2700000"/>
                </a:gradFill>
                <a:latin typeface="HK Modular"/>
                <a:ea typeface="HK Modular"/>
                <a:cs typeface="HK Modular"/>
                <a:sym typeface="HK Modular"/>
              </a:rPr>
              <a:t>MINEGUARD NEXUS</a:t>
            </a:r>
          </a:p>
        </p:txBody>
      </p:sp>
      <p:sp>
        <p:nvSpPr>
          <p:cNvPr id="10" name="TextBox 10"/>
          <p:cNvSpPr txBox="1"/>
          <p:nvPr/>
        </p:nvSpPr>
        <p:spPr>
          <a:xfrm>
            <a:off x="1028700" y="8855009"/>
            <a:ext cx="3226472" cy="207645"/>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Poppins"/>
                <a:ea typeface="Poppins"/>
                <a:cs typeface="Poppins"/>
                <a:sym typeface="Poppins"/>
              </a:rPr>
              <a:t>sigma.mineguard.nexus</a:t>
            </a:r>
          </a:p>
        </p:txBody>
      </p:sp>
      <p:sp>
        <p:nvSpPr>
          <p:cNvPr id="11" name="TextBox 11"/>
          <p:cNvSpPr txBox="1"/>
          <p:nvPr/>
        </p:nvSpPr>
        <p:spPr>
          <a:xfrm>
            <a:off x="1028700" y="8420100"/>
            <a:ext cx="2216693" cy="424603"/>
          </a:xfrm>
          <a:prstGeom prst="rect">
            <a:avLst/>
          </a:prstGeom>
        </p:spPr>
        <p:txBody>
          <a:bodyPr lIns="0" tIns="0" rIns="0" bIns="0" rtlCol="0" anchor="t">
            <a:spAutoFit/>
          </a:bodyPr>
          <a:lstStyle/>
          <a:p>
            <a:pPr marL="0" lvl="0" indent="0" algn="l">
              <a:lnSpc>
                <a:spcPts val="1679"/>
              </a:lnSpc>
              <a:spcBef>
                <a:spcPct val="0"/>
              </a:spcBef>
            </a:pPr>
            <a:r>
              <a:rPr lang="en-US" sz="1200" dirty="0">
                <a:solidFill>
                  <a:srgbClr val="FFFFFF"/>
                </a:solidFill>
                <a:latin typeface="Poppins"/>
                <a:ea typeface="Poppins"/>
                <a:cs typeface="Poppins"/>
                <a:sym typeface="Poppins"/>
              </a:rPr>
              <a:t> AI-Based Smart Governance</a:t>
            </a:r>
          </a:p>
        </p:txBody>
      </p:sp>
      <p:sp>
        <p:nvSpPr>
          <p:cNvPr id="12" name="TextBox 12"/>
          <p:cNvSpPr txBox="1"/>
          <p:nvPr/>
        </p:nvSpPr>
        <p:spPr>
          <a:xfrm>
            <a:off x="14993764" y="8826434"/>
            <a:ext cx="2265536" cy="358811"/>
          </a:xfrm>
          <a:prstGeom prst="rect">
            <a:avLst/>
          </a:prstGeom>
        </p:spPr>
        <p:txBody>
          <a:bodyPr lIns="0" tIns="0" rIns="0" bIns="0" rtlCol="0" anchor="t">
            <a:spAutoFit/>
          </a:bodyPr>
          <a:lstStyle/>
          <a:p>
            <a:pPr marL="0" lvl="0" indent="0" algn="l">
              <a:lnSpc>
                <a:spcPts val="2798"/>
              </a:lnSpc>
              <a:spcBef>
                <a:spcPct val="0"/>
              </a:spcBef>
            </a:pPr>
            <a:r>
              <a:rPr lang="en-US" sz="1998" b="1">
                <a:gradFill>
                  <a:gsLst>
                    <a:gs pos="0">
                      <a:srgbClr val="51DACF">
                        <a:alpha val="100000"/>
                      </a:srgbClr>
                    </a:gs>
                    <a:gs pos="100000">
                      <a:srgbClr val="FFFFFF">
                        <a:alpha val="100000"/>
                      </a:srgbClr>
                    </a:gs>
                  </a:gsLst>
                  <a:lin ang="2700000"/>
                </a:gradFill>
                <a:latin typeface="Poppins Bold"/>
                <a:ea typeface="Poppins Bold"/>
                <a:cs typeface="Poppins Bold"/>
                <a:sym typeface="Poppins Bold"/>
              </a:rPr>
              <a:t>Team S.I.G.M.A</a:t>
            </a:r>
          </a:p>
        </p:txBody>
      </p:sp>
      <p:sp>
        <p:nvSpPr>
          <p:cNvPr id="13" name="TextBox 13"/>
          <p:cNvSpPr txBox="1"/>
          <p:nvPr/>
        </p:nvSpPr>
        <p:spPr>
          <a:xfrm>
            <a:off x="14993764" y="8454225"/>
            <a:ext cx="2216693" cy="207645"/>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Poppins"/>
                <a:ea typeface="Poppins"/>
                <a:cs typeface="Poppins"/>
                <a:sym typeface="Poppins"/>
              </a:rPr>
              <a:t>Presented By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1049</Words>
  <Application>Microsoft Office PowerPoint</Application>
  <PresentationFormat>Custom</PresentationFormat>
  <Paragraphs>85</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Poppins Bold</vt:lpstr>
      <vt:lpstr>Arial</vt:lpstr>
      <vt:lpstr>HK Modular</vt:lpstr>
      <vt:lpstr>Calibri</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 Text Magic Studio Magic Design for Presentations L&amp;P</dc:title>
  <cp:lastModifiedBy>yaswanthigollavilli@gmail.com</cp:lastModifiedBy>
  <cp:revision>2</cp:revision>
  <dcterms:created xsi:type="dcterms:W3CDTF">2006-08-16T00:00:00Z</dcterms:created>
  <dcterms:modified xsi:type="dcterms:W3CDTF">2026-09-13T11:41:18Z</dcterms:modified>
  <dc:identifier>DAHVE9IcAvc</dc:identifier>
</cp:coreProperties>
</file>